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6"/>
  </p:notesMasterIdLst>
  <p:handoutMasterIdLst>
    <p:handoutMasterId r:id="rId17"/>
  </p:handoutMasterIdLst>
  <p:sldIdLst>
    <p:sldId id="281" r:id="rId5"/>
    <p:sldId id="284" r:id="rId6"/>
    <p:sldId id="278" r:id="rId7"/>
    <p:sldId id="273" r:id="rId8"/>
    <p:sldId id="261" r:id="rId9"/>
    <p:sldId id="279" r:id="rId10"/>
    <p:sldId id="265" r:id="rId11"/>
    <p:sldId id="285" r:id="rId12"/>
    <p:sldId id="286" r:id="rId13"/>
    <p:sldId id="288" r:id="rId14"/>
    <p:sldId id="28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95" autoAdjust="0"/>
    <p:restoredTop sz="94879" autoAdjust="0"/>
  </p:normalViewPr>
  <p:slideViewPr>
    <p:cSldViewPr snapToGrid="0">
      <p:cViewPr>
        <p:scale>
          <a:sx n="50" d="100"/>
          <a:sy n="50" d="100"/>
        </p:scale>
        <p:origin x="604" y="23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926A72-7CC9-4E2C-9CDE-2737F50EBC8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1142D4A-82ED-4344-BFF9-9168DBC47E9D}">
      <dgm:prSet/>
      <dgm:spPr/>
      <dgm:t>
        <a:bodyPr/>
        <a:lstStyle/>
        <a:p>
          <a:r>
            <a:rPr lang="fr-FR" dirty="0"/>
            <a:t>Dans un premier temps, nous avons réalisé une série de traitements au niveau des données.</a:t>
          </a:r>
          <a:endParaRPr lang="en-US" dirty="0"/>
        </a:p>
      </dgm:t>
    </dgm:pt>
    <dgm:pt modelId="{B61BF4A1-F602-48FF-91B9-7021203AB0B5}" type="parTrans" cxnId="{74583C45-744E-4306-BEB2-96F9BA2A6240}">
      <dgm:prSet/>
      <dgm:spPr/>
      <dgm:t>
        <a:bodyPr/>
        <a:lstStyle/>
        <a:p>
          <a:endParaRPr lang="en-US"/>
        </a:p>
      </dgm:t>
    </dgm:pt>
    <dgm:pt modelId="{DEE3058C-D01A-446E-91F9-560645B77799}" type="sibTrans" cxnId="{74583C45-744E-4306-BEB2-96F9BA2A6240}">
      <dgm:prSet/>
      <dgm:spPr/>
      <dgm:t>
        <a:bodyPr/>
        <a:lstStyle/>
        <a:p>
          <a:endParaRPr lang="en-US"/>
        </a:p>
      </dgm:t>
    </dgm:pt>
    <dgm:pt modelId="{8E8DE1CC-96D4-47F4-A102-BCC7740CFC7D}">
      <dgm:prSet/>
      <dgm:spPr/>
      <dgm:t>
        <a:bodyPr/>
        <a:lstStyle/>
        <a:p>
          <a:r>
            <a:rPr lang="fr-FR" dirty="0"/>
            <a:t>Ensuite, nous avons joint les différentes tables afin d’obtenir un jeu de données beaucoup plus enrichi.</a:t>
          </a:r>
          <a:endParaRPr lang="en-US" dirty="0"/>
        </a:p>
      </dgm:t>
    </dgm:pt>
    <dgm:pt modelId="{C1DD6F82-145A-44F6-AD6C-DE24D236AD2C}" type="parTrans" cxnId="{49416DF5-A037-4276-8870-A600A393B36B}">
      <dgm:prSet/>
      <dgm:spPr/>
      <dgm:t>
        <a:bodyPr/>
        <a:lstStyle/>
        <a:p>
          <a:endParaRPr lang="en-US"/>
        </a:p>
      </dgm:t>
    </dgm:pt>
    <dgm:pt modelId="{E8BC8354-4CF3-401D-9DA1-DFBBD98DDA42}" type="sibTrans" cxnId="{49416DF5-A037-4276-8870-A600A393B36B}">
      <dgm:prSet/>
      <dgm:spPr/>
      <dgm:t>
        <a:bodyPr/>
        <a:lstStyle/>
        <a:p>
          <a:endParaRPr lang="en-US"/>
        </a:p>
      </dgm:t>
    </dgm:pt>
    <dgm:pt modelId="{DBE84435-ACDF-4256-9035-7856E8DF051E}">
      <dgm:prSet/>
      <dgm:spPr/>
      <dgm:t>
        <a:bodyPr/>
        <a:lstStyle/>
        <a:p>
          <a:r>
            <a:rPr lang="fr-FR"/>
            <a:t>Pour finir, nous avons analysé les ventes en faisant ressortir les indicateurs clés de performance (ICP).</a:t>
          </a:r>
          <a:endParaRPr lang="en-US"/>
        </a:p>
      </dgm:t>
    </dgm:pt>
    <dgm:pt modelId="{8568D751-12B3-4000-9888-5AB33038EC11}" type="parTrans" cxnId="{D05EA07D-DDF0-4F8B-9D79-83E7B7B17066}">
      <dgm:prSet/>
      <dgm:spPr/>
      <dgm:t>
        <a:bodyPr/>
        <a:lstStyle/>
        <a:p>
          <a:endParaRPr lang="en-US"/>
        </a:p>
      </dgm:t>
    </dgm:pt>
    <dgm:pt modelId="{36A0FC54-31B7-4EDC-AC7A-1BECE85D7A86}" type="sibTrans" cxnId="{D05EA07D-DDF0-4F8B-9D79-83E7B7B17066}">
      <dgm:prSet/>
      <dgm:spPr/>
      <dgm:t>
        <a:bodyPr/>
        <a:lstStyle/>
        <a:p>
          <a:endParaRPr lang="en-US"/>
        </a:p>
      </dgm:t>
    </dgm:pt>
    <dgm:pt modelId="{A5A729A9-460F-4D96-BA8C-B315E1830C96}" type="pres">
      <dgm:prSet presAssocID="{C2926A72-7CC9-4E2C-9CDE-2737F50EBC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EB1EDC8-EB3A-4844-B333-641CB941B469}" type="pres">
      <dgm:prSet presAssocID="{A1142D4A-82ED-4344-BFF9-9168DBC47E9D}" presName="hierRoot1" presStyleCnt="0"/>
      <dgm:spPr/>
    </dgm:pt>
    <dgm:pt modelId="{584686BC-7BD8-412C-BF3A-54DB4EF4BCA1}" type="pres">
      <dgm:prSet presAssocID="{A1142D4A-82ED-4344-BFF9-9168DBC47E9D}" presName="composite" presStyleCnt="0"/>
      <dgm:spPr/>
    </dgm:pt>
    <dgm:pt modelId="{B2E8F19C-AD1C-4106-8F06-D96E79EACB3F}" type="pres">
      <dgm:prSet presAssocID="{A1142D4A-82ED-4344-BFF9-9168DBC47E9D}" presName="background" presStyleLbl="node0" presStyleIdx="0" presStyleCnt="3"/>
      <dgm:spPr/>
    </dgm:pt>
    <dgm:pt modelId="{564DB6F8-68D5-4DCB-93C6-84100C7FDE3A}" type="pres">
      <dgm:prSet presAssocID="{A1142D4A-82ED-4344-BFF9-9168DBC47E9D}" presName="text" presStyleLbl="fgAcc0" presStyleIdx="0" presStyleCnt="3">
        <dgm:presLayoutVars>
          <dgm:chPref val="3"/>
        </dgm:presLayoutVars>
      </dgm:prSet>
      <dgm:spPr/>
    </dgm:pt>
    <dgm:pt modelId="{81863AB9-8548-4D64-9D0C-FBEFA9E8369F}" type="pres">
      <dgm:prSet presAssocID="{A1142D4A-82ED-4344-BFF9-9168DBC47E9D}" presName="hierChild2" presStyleCnt="0"/>
      <dgm:spPr/>
    </dgm:pt>
    <dgm:pt modelId="{B7936B94-60C8-42BC-A72D-A5F220880E35}" type="pres">
      <dgm:prSet presAssocID="{8E8DE1CC-96D4-47F4-A102-BCC7740CFC7D}" presName="hierRoot1" presStyleCnt="0"/>
      <dgm:spPr/>
    </dgm:pt>
    <dgm:pt modelId="{AC809C22-9023-4B0C-9438-21FB0FF57026}" type="pres">
      <dgm:prSet presAssocID="{8E8DE1CC-96D4-47F4-A102-BCC7740CFC7D}" presName="composite" presStyleCnt="0"/>
      <dgm:spPr/>
    </dgm:pt>
    <dgm:pt modelId="{B4B9D428-2679-4CFB-A1CE-D6D22A91CF50}" type="pres">
      <dgm:prSet presAssocID="{8E8DE1CC-96D4-47F4-A102-BCC7740CFC7D}" presName="background" presStyleLbl="node0" presStyleIdx="1" presStyleCnt="3"/>
      <dgm:spPr/>
    </dgm:pt>
    <dgm:pt modelId="{80A10A03-20E8-4875-B789-6AC9548370A3}" type="pres">
      <dgm:prSet presAssocID="{8E8DE1CC-96D4-47F4-A102-BCC7740CFC7D}" presName="text" presStyleLbl="fgAcc0" presStyleIdx="1" presStyleCnt="3">
        <dgm:presLayoutVars>
          <dgm:chPref val="3"/>
        </dgm:presLayoutVars>
      </dgm:prSet>
      <dgm:spPr/>
    </dgm:pt>
    <dgm:pt modelId="{2D36EB2C-74CC-4951-AB06-42A6945DA39B}" type="pres">
      <dgm:prSet presAssocID="{8E8DE1CC-96D4-47F4-A102-BCC7740CFC7D}" presName="hierChild2" presStyleCnt="0"/>
      <dgm:spPr/>
    </dgm:pt>
    <dgm:pt modelId="{8CEE339D-3FFA-4E10-B7F0-5A99E09FD6EC}" type="pres">
      <dgm:prSet presAssocID="{DBE84435-ACDF-4256-9035-7856E8DF051E}" presName="hierRoot1" presStyleCnt="0"/>
      <dgm:spPr/>
    </dgm:pt>
    <dgm:pt modelId="{BA80EF17-076D-4FB2-84CD-756EA1EA697A}" type="pres">
      <dgm:prSet presAssocID="{DBE84435-ACDF-4256-9035-7856E8DF051E}" presName="composite" presStyleCnt="0"/>
      <dgm:spPr/>
    </dgm:pt>
    <dgm:pt modelId="{86C35E60-122C-4864-9B1B-6D22D6666E1C}" type="pres">
      <dgm:prSet presAssocID="{DBE84435-ACDF-4256-9035-7856E8DF051E}" presName="background" presStyleLbl="node0" presStyleIdx="2" presStyleCnt="3"/>
      <dgm:spPr/>
    </dgm:pt>
    <dgm:pt modelId="{DA781907-728A-47E9-825B-1C75CB549510}" type="pres">
      <dgm:prSet presAssocID="{DBE84435-ACDF-4256-9035-7856E8DF051E}" presName="text" presStyleLbl="fgAcc0" presStyleIdx="2" presStyleCnt="3">
        <dgm:presLayoutVars>
          <dgm:chPref val="3"/>
        </dgm:presLayoutVars>
      </dgm:prSet>
      <dgm:spPr/>
    </dgm:pt>
    <dgm:pt modelId="{82EE859C-C326-4345-9BC8-845763A29B87}" type="pres">
      <dgm:prSet presAssocID="{DBE84435-ACDF-4256-9035-7856E8DF051E}" presName="hierChild2" presStyleCnt="0"/>
      <dgm:spPr/>
    </dgm:pt>
  </dgm:ptLst>
  <dgm:cxnLst>
    <dgm:cxn modelId="{02531415-896C-4663-BF96-50F2FD78E1F4}" type="presOf" srcId="{A1142D4A-82ED-4344-BFF9-9168DBC47E9D}" destId="{564DB6F8-68D5-4DCB-93C6-84100C7FDE3A}" srcOrd="0" destOrd="0" presId="urn:microsoft.com/office/officeart/2005/8/layout/hierarchy1"/>
    <dgm:cxn modelId="{74583C45-744E-4306-BEB2-96F9BA2A6240}" srcId="{C2926A72-7CC9-4E2C-9CDE-2737F50EBC8B}" destId="{A1142D4A-82ED-4344-BFF9-9168DBC47E9D}" srcOrd="0" destOrd="0" parTransId="{B61BF4A1-F602-48FF-91B9-7021203AB0B5}" sibTransId="{DEE3058C-D01A-446E-91F9-560645B77799}"/>
    <dgm:cxn modelId="{D05EA07D-DDF0-4F8B-9D79-83E7B7B17066}" srcId="{C2926A72-7CC9-4E2C-9CDE-2737F50EBC8B}" destId="{DBE84435-ACDF-4256-9035-7856E8DF051E}" srcOrd="2" destOrd="0" parTransId="{8568D751-12B3-4000-9888-5AB33038EC11}" sibTransId="{36A0FC54-31B7-4EDC-AC7A-1BECE85D7A86}"/>
    <dgm:cxn modelId="{9E22C284-E96D-4219-A17C-0BBE9128A9D5}" type="presOf" srcId="{C2926A72-7CC9-4E2C-9CDE-2737F50EBC8B}" destId="{A5A729A9-460F-4D96-BA8C-B315E1830C96}" srcOrd="0" destOrd="0" presId="urn:microsoft.com/office/officeart/2005/8/layout/hierarchy1"/>
    <dgm:cxn modelId="{A7252B85-2826-4A8A-84F5-6688DD69587C}" type="presOf" srcId="{8E8DE1CC-96D4-47F4-A102-BCC7740CFC7D}" destId="{80A10A03-20E8-4875-B789-6AC9548370A3}" srcOrd="0" destOrd="0" presId="urn:microsoft.com/office/officeart/2005/8/layout/hierarchy1"/>
    <dgm:cxn modelId="{DD8825F2-48DD-464E-9249-CE3D43F8F872}" type="presOf" srcId="{DBE84435-ACDF-4256-9035-7856E8DF051E}" destId="{DA781907-728A-47E9-825B-1C75CB549510}" srcOrd="0" destOrd="0" presId="urn:microsoft.com/office/officeart/2005/8/layout/hierarchy1"/>
    <dgm:cxn modelId="{49416DF5-A037-4276-8870-A600A393B36B}" srcId="{C2926A72-7CC9-4E2C-9CDE-2737F50EBC8B}" destId="{8E8DE1CC-96D4-47F4-A102-BCC7740CFC7D}" srcOrd="1" destOrd="0" parTransId="{C1DD6F82-145A-44F6-AD6C-DE24D236AD2C}" sibTransId="{E8BC8354-4CF3-401D-9DA1-DFBBD98DDA42}"/>
    <dgm:cxn modelId="{BC7DB984-F399-4CB5-BFD3-8A3B955D9837}" type="presParOf" srcId="{A5A729A9-460F-4D96-BA8C-B315E1830C96}" destId="{DEB1EDC8-EB3A-4844-B333-641CB941B469}" srcOrd="0" destOrd="0" presId="urn:microsoft.com/office/officeart/2005/8/layout/hierarchy1"/>
    <dgm:cxn modelId="{5603CDB7-EA4D-484E-94F5-7FF619634B73}" type="presParOf" srcId="{DEB1EDC8-EB3A-4844-B333-641CB941B469}" destId="{584686BC-7BD8-412C-BF3A-54DB4EF4BCA1}" srcOrd="0" destOrd="0" presId="urn:microsoft.com/office/officeart/2005/8/layout/hierarchy1"/>
    <dgm:cxn modelId="{A37AF738-5F6F-4063-AEE6-61588CCA5A10}" type="presParOf" srcId="{584686BC-7BD8-412C-BF3A-54DB4EF4BCA1}" destId="{B2E8F19C-AD1C-4106-8F06-D96E79EACB3F}" srcOrd="0" destOrd="0" presId="urn:microsoft.com/office/officeart/2005/8/layout/hierarchy1"/>
    <dgm:cxn modelId="{7D96AE5B-B6B5-4C3E-B5B0-2A3154FEECA4}" type="presParOf" srcId="{584686BC-7BD8-412C-BF3A-54DB4EF4BCA1}" destId="{564DB6F8-68D5-4DCB-93C6-84100C7FDE3A}" srcOrd="1" destOrd="0" presId="urn:microsoft.com/office/officeart/2005/8/layout/hierarchy1"/>
    <dgm:cxn modelId="{055F4DF8-A93C-438F-9141-0ED73BC439CD}" type="presParOf" srcId="{DEB1EDC8-EB3A-4844-B333-641CB941B469}" destId="{81863AB9-8548-4D64-9D0C-FBEFA9E8369F}" srcOrd="1" destOrd="0" presId="urn:microsoft.com/office/officeart/2005/8/layout/hierarchy1"/>
    <dgm:cxn modelId="{F0D09E2E-4483-432A-8E91-1D43B7D30EF8}" type="presParOf" srcId="{A5A729A9-460F-4D96-BA8C-B315E1830C96}" destId="{B7936B94-60C8-42BC-A72D-A5F220880E35}" srcOrd="1" destOrd="0" presId="urn:microsoft.com/office/officeart/2005/8/layout/hierarchy1"/>
    <dgm:cxn modelId="{13DFE602-9235-4B10-A79D-AEB42E7454EC}" type="presParOf" srcId="{B7936B94-60C8-42BC-A72D-A5F220880E35}" destId="{AC809C22-9023-4B0C-9438-21FB0FF57026}" srcOrd="0" destOrd="0" presId="urn:microsoft.com/office/officeart/2005/8/layout/hierarchy1"/>
    <dgm:cxn modelId="{ECD57498-9474-4297-98B1-7140DE464C47}" type="presParOf" srcId="{AC809C22-9023-4B0C-9438-21FB0FF57026}" destId="{B4B9D428-2679-4CFB-A1CE-D6D22A91CF50}" srcOrd="0" destOrd="0" presId="urn:microsoft.com/office/officeart/2005/8/layout/hierarchy1"/>
    <dgm:cxn modelId="{EEEBED8D-73C9-4F6B-A834-929ECFEB023A}" type="presParOf" srcId="{AC809C22-9023-4B0C-9438-21FB0FF57026}" destId="{80A10A03-20E8-4875-B789-6AC9548370A3}" srcOrd="1" destOrd="0" presId="urn:microsoft.com/office/officeart/2005/8/layout/hierarchy1"/>
    <dgm:cxn modelId="{1CB3C7EC-E067-4B90-A4F0-D22F127FD1A8}" type="presParOf" srcId="{B7936B94-60C8-42BC-A72D-A5F220880E35}" destId="{2D36EB2C-74CC-4951-AB06-42A6945DA39B}" srcOrd="1" destOrd="0" presId="urn:microsoft.com/office/officeart/2005/8/layout/hierarchy1"/>
    <dgm:cxn modelId="{0250A0ED-7409-4534-B6B4-785A9A952F21}" type="presParOf" srcId="{A5A729A9-460F-4D96-BA8C-B315E1830C96}" destId="{8CEE339D-3FFA-4E10-B7F0-5A99E09FD6EC}" srcOrd="2" destOrd="0" presId="urn:microsoft.com/office/officeart/2005/8/layout/hierarchy1"/>
    <dgm:cxn modelId="{ED3687D0-6B82-41AB-836D-905E40B90566}" type="presParOf" srcId="{8CEE339D-3FFA-4E10-B7F0-5A99E09FD6EC}" destId="{BA80EF17-076D-4FB2-84CD-756EA1EA697A}" srcOrd="0" destOrd="0" presId="urn:microsoft.com/office/officeart/2005/8/layout/hierarchy1"/>
    <dgm:cxn modelId="{2B39C0E7-AA88-4051-A787-E904956D686E}" type="presParOf" srcId="{BA80EF17-076D-4FB2-84CD-756EA1EA697A}" destId="{86C35E60-122C-4864-9B1B-6D22D6666E1C}" srcOrd="0" destOrd="0" presId="urn:microsoft.com/office/officeart/2005/8/layout/hierarchy1"/>
    <dgm:cxn modelId="{76D7DF72-6910-46F6-93D1-59FE034F3C64}" type="presParOf" srcId="{BA80EF17-076D-4FB2-84CD-756EA1EA697A}" destId="{DA781907-728A-47E9-825B-1C75CB549510}" srcOrd="1" destOrd="0" presId="urn:microsoft.com/office/officeart/2005/8/layout/hierarchy1"/>
    <dgm:cxn modelId="{9919FF87-4F0E-4810-ADA1-2739E8C948A7}" type="presParOf" srcId="{8CEE339D-3FFA-4E10-B7F0-5A99E09FD6EC}" destId="{82EE859C-C326-4345-9BC8-845763A29B8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193188-618D-41E0-872B-06082A4419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B1C1C6-7157-4526-A0D5-B1ED94853003}">
      <dgm:prSet/>
      <dgm:spPr/>
      <dgm:t>
        <a:bodyPr/>
        <a:lstStyle/>
        <a:p>
          <a:r>
            <a:rPr lang="en-US"/>
            <a:t>Notre jeu de données est composé de trois fichiers CSV décrivant les clients, les produits et les transactions de l’entreprise EduMart.</a:t>
          </a:r>
        </a:p>
      </dgm:t>
    </dgm:pt>
    <dgm:pt modelId="{9F420876-A162-4335-8CD4-2BD37E0F81C7}" type="parTrans" cxnId="{8DC8E312-DFBB-4FB5-A674-182AA9FC7F9E}">
      <dgm:prSet/>
      <dgm:spPr/>
      <dgm:t>
        <a:bodyPr/>
        <a:lstStyle/>
        <a:p>
          <a:endParaRPr lang="en-US"/>
        </a:p>
      </dgm:t>
    </dgm:pt>
    <dgm:pt modelId="{74BF9115-2ABC-49BB-88DC-AAB069D70392}" type="sibTrans" cxnId="{8DC8E312-DFBB-4FB5-A674-182AA9FC7F9E}">
      <dgm:prSet/>
      <dgm:spPr/>
      <dgm:t>
        <a:bodyPr/>
        <a:lstStyle/>
        <a:p>
          <a:endParaRPr lang="en-US"/>
        </a:p>
      </dgm:t>
    </dgm:pt>
    <dgm:pt modelId="{C526C0D8-8E41-46B8-8371-CE41EAF4B6BB}">
      <dgm:prSet/>
      <dgm:spPr/>
      <dgm:t>
        <a:bodyPr/>
        <a:lstStyle/>
        <a:p>
          <a:r>
            <a:rPr lang="en-US"/>
            <a:t>Les données vont de la période allant de 2024 à 2025. Le dataset qui enregistre les transactions comptent environ 2200 lignes.</a:t>
          </a:r>
        </a:p>
      </dgm:t>
    </dgm:pt>
    <dgm:pt modelId="{F8BF759E-E7B1-453F-A2F6-53F0B6B1869F}" type="parTrans" cxnId="{43EA270C-64C3-408C-8B0C-0856A2A58248}">
      <dgm:prSet/>
      <dgm:spPr/>
      <dgm:t>
        <a:bodyPr/>
        <a:lstStyle/>
        <a:p>
          <a:endParaRPr lang="en-US"/>
        </a:p>
      </dgm:t>
    </dgm:pt>
    <dgm:pt modelId="{66A336BB-055E-4D88-AEAD-75D101C15C4E}" type="sibTrans" cxnId="{43EA270C-64C3-408C-8B0C-0856A2A58248}">
      <dgm:prSet/>
      <dgm:spPr/>
      <dgm:t>
        <a:bodyPr/>
        <a:lstStyle/>
        <a:p>
          <a:endParaRPr lang="en-US"/>
        </a:p>
      </dgm:t>
    </dgm:pt>
    <dgm:pt modelId="{EE1AA0EB-0162-48BD-B13F-53AE30B8BDDB}" type="pres">
      <dgm:prSet presAssocID="{F5193188-618D-41E0-872B-06082A441988}" presName="root" presStyleCnt="0">
        <dgm:presLayoutVars>
          <dgm:dir/>
          <dgm:resizeHandles val="exact"/>
        </dgm:presLayoutVars>
      </dgm:prSet>
      <dgm:spPr/>
    </dgm:pt>
    <dgm:pt modelId="{27AD380C-70BE-44BD-897F-42C3A7B24ED9}" type="pres">
      <dgm:prSet presAssocID="{17B1C1C6-7157-4526-A0D5-B1ED94853003}" presName="compNode" presStyleCnt="0"/>
      <dgm:spPr/>
    </dgm:pt>
    <dgm:pt modelId="{68B249C0-EBD5-438B-B03A-4C58E6BE58D2}" type="pres">
      <dgm:prSet presAssocID="{17B1C1C6-7157-4526-A0D5-B1ED94853003}" presName="bgRect" presStyleLbl="bgShp" presStyleIdx="0" presStyleCnt="2"/>
      <dgm:spPr/>
    </dgm:pt>
    <dgm:pt modelId="{04233766-FDD5-4660-BC11-4F03F1EA56F2}" type="pres">
      <dgm:prSet presAssocID="{17B1C1C6-7157-4526-A0D5-B1ED9485300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BA26B24C-0ED6-475A-AC63-14028355A2D4}" type="pres">
      <dgm:prSet presAssocID="{17B1C1C6-7157-4526-A0D5-B1ED94853003}" presName="spaceRect" presStyleCnt="0"/>
      <dgm:spPr/>
    </dgm:pt>
    <dgm:pt modelId="{A1795097-C29C-488E-9A6A-0D927A968142}" type="pres">
      <dgm:prSet presAssocID="{17B1C1C6-7157-4526-A0D5-B1ED94853003}" presName="parTx" presStyleLbl="revTx" presStyleIdx="0" presStyleCnt="2">
        <dgm:presLayoutVars>
          <dgm:chMax val="0"/>
          <dgm:chPref val="0"/>
        </dgm:presLayoutVars>
      </dgm:prSet>
      <dgm:spPr/>
    </dgm:pt>
    <dgm:pt modelId="{D73891A5-20AC-4D15-AD8D-AFC954050F29}" type="pres">
      <dgm:prSet presAssocID="{74BF9115-2ABC-49BB-88DC-AAB069D70392}" presName="sibTrans" presStyleCnt="0"/>
      <dgm:spPr/>
    </dgm:pt>
    <dgm:pt modelId="{58A16471-8616-4F60-8660-33472D376A10}" type="pres">
      <dgm:prSet presAssocID="{C526C0D8-8E41-46B8-8371-CE41EAF4B6BB}" presName="compNode" presStyleCnt="0"/>
      <dgm:spPr/>
    </dgm:pt>
    <dgm:pt modelId="{66FA3081-3B6D-402D-BF4D-2C6EFB19EC73}" type="pres">
      <dgm:prSet presAssocID="{C526C0D8-8E41-46B8-8371-CE41EAF4B6BB}" presName="bgRect" presStyleLbl="bgShp" presStyleIdx="1" presStyleCnt="2"/>
      <dgm:spPr/>
    </dgm:pt>
    <dgm:pt modelId="{F34058FA-5287-4EC3-9D63-72C557BE9697}" type="pres">
      <dgm:prSet presAssocID="{C526C0D8-8E41-46B8-8371-CE41EAF4B6B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A1DEDB7-F034-4C37-844C-1A3F0089AD13}" type="pres">
      <dgm:prSet presAssocID="{C526C0D8-8E41-46B8-8371-CE41EAF4B6BB}" presName="spaceRect" presStyleCnt="0"/>
      <dgm:spPr/>
    </dgm:pt>
    <dgm:pt modelId="{8F871850-610A-459A-B501-1B090997F29A}" type="pres">
      <dgm:prSet presAssocID="{C526C0D8-8E41-46B8-8371-CE41EAF4B6B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3EA270C-64C3-408C-8B0C-0856A2A58248}" srcId="{F5193188-618D-41E0-872B-06082A441988}" destId="{C526C0D8-8E41-46B8-8371-CE41EAF4B6BB}" srcOrd="1" destOrd="0" parTransId="{F8BF759E-E7B1-453F-A2F6-53F0B6B1869F}" sibTransId="{66A336BB-055E-4D88-AEAD-75D101C15C4E}"/>
    <dgm:cxn modelId="{8DC8E312-DFBB-4FB5-A674-182AA9FC7F9E}" srcId="{F5193188-618D-41E0-872B-06082A441988}" destId="{17B1C1C6-7157-4526-A0D5-B1ED94853003}" srcOrd="0" destOrd="0" parTransId="{9F420876-A162-4335-8CD4-2BD37E0F81C7}" sibTransId="{74BF9115-2ABC-49BB-88DC-AAB069D70392}"/>
    <dgm:cxn modelId="{DCCA2D16-8409-4232-8AD0-41C424504DE1}" type="presOf" srcId="{17B1C1C6-7157-4526-A0D5-B1ED94853003}" destId="{A1795097-C29C-488E-9A6A-0D927A968142}" srcOrd="0" destOrd="0" presId="urn:microsoft.com/office/officeart/2018/2/layout/IconVerticalSolidList"/>
    <dgm:cxn modelId="{8713B5A7-C2ED-4368-B67C-126E3A661E88}" type="presOf" srcId="{F5193188-618D-41E0-872B-06082A441988}" destId="{EE1AA0EB-0162-48BD-B13F-53AE30B8BDDB}" srcOrd="0" destOrd="0" presId="urn:microsoft.com/office/officeart/2018/2/layout/IconVerticalSolidList"/>
    <dgm:cxn modelId="{F3F5FDDA-73F4-4A77-9F18-C542E15C5A77}" type="presOf" srcId="{C526C0D8-8E41-46B8-8371-CE41EAF4B6BB}" destId="{8F871850-610A-459A-B501-1B090997F29A}" srcOrd="0" destOrd="0" presId="urn:microsoft.com/office/officeart/2018/2/layout/IconVerticalSolidList"/>
    <dgm:cxn modelId="{9AEF5C0A-0832-43B4-9FF0-9E748AF6ECD6}" type="presParOf" srcId="{EE1AA0EB-0162-48BD-B13F-53AE30B8BDDB}" destId="{27AD380C-70BE-44BD-897F-42C3A7B24ED9}" srcOrd="0" destOrd="0" presId="urn:microsoft.com/office/officeart/2018/2/layout/IconVerticalSolidList"/>
    <dgm:cxn modelId="{8961EB0A-C2FB-4FD5-BF42-FD53C33CF51A}" type="presParOf" srcId="{27AD380C-70BE-44BD-897F-42C3A7B24ED9}" destId="{68B249C0-EBD5-438B-B03A-4C58E6BE58D2}" srcOrd="0" destOrd="0" presId="urn:microsoft.com/office/officeart/2018/2/layout/IconVerticalSolidList"/>
    <dgm:cxn modelId="{B325D359-F218-4022-862D-A1CB4A00B586}" type="presParOf" srcId="{27AD380C-70BE-44BD-897F-42C3A7B24ED9}" destId="{04233766-FDD5-4660-BC11-4F03F1EA56F2}" srcOrd="1" destOrd="0" presId="urn:microsoft.com/office/officeart/2018/2/layout/IconVerticalSolidList"/>
    <dgm:cxn modelId="{56E0245D-B7A1-4801-81AC-84E744485F97}" type="presParOf" srcId="{27AD380C-70BE-44BD-897F-42C3A7B24ED9}" destId="{BA26B24C-0ED6-475A-AC63-14028355A2D4}" srcOrd="2" destOrd="0" presId="urn:microsoft.com/office/officeart/2018/2/layout/IconVerticalSolidList"/>
    <dgm:cxn modelId="{00EDC01B-4614-47BF-814B-39C00EC5623C}" type="presParOf" srcId="{27AD380C-70BE-44BD-897F-42C3A7B24ED9}" destId="{A1795097-C29C-488E-9A6A-0D927A968142}" srcOrd="3" destOrd="0" presId="urn:microsoft.com/office/officeart/2018/2/layout/IconVerticalSolidList"/>
    <dgm:cxn modelId="{A65377C2-7186-4F37-9E94-F903F02AE1B8}" type="presParOf" srcId="{EE1AA0EB-0162-48BD-B13F-53AE30B8BDDB}" destId="{D73891A5-20AC-4D15-AD8D-AFC954050F29}" srcOrd="1" destOrd="0" presId="urn:microsoft.com/office/officeart/2018/2/layout/IconVerticalSolidList"/>
    <dgm:cxn modelId="{1414CCA5-B083-42B6-9FFB-0175C58C52EB}" type="presParOf" srcId="{EE1AA0EB-0162-48BD-B13F-53AE30B8BDDB}" destId="{58A16471-8616-4F60-8660-33472D376A10}" srcOrd="2" destOrd="0" presId="urn:microsoft.com/office/officeart/2018/2/layout/IconVerticalSolidList"/>
    <dgm:cxn modelId="{B0011C3C-D115-4926-81EF-0CE3FDCDFF25}" type="presParOf" srcId="{58A16471-8616-4F60-8660-33472D376A10}" destId="{66FA3081-3B6D-402D-BF4D-2C6EFB19EC73}" srcOrd="0" destOrd="0" presId="urn:microsoft.com/office/officeart/2018/2/layout/IconVerticalSolidList"/>
    <dgm:cxn modelId="{5234A4F6-DB4D-4FE8-BF8C-202784C3C637}" type="presParOf" srcId="{58A16471-8616-4F60-8660-33472D376A10}" destId="{F34058FA-5287-4EC3-9D63-72C557BE9697}" srcOrd="1" destOrd="0" presId="urn:microsoft.com/office/officeart/2018/2/layout/IconVerticalSolidList"/>
    <dgm:cxn modelId="{AB056016-AB77-4525-A89A-71A1A0B237F3}" type="presParOf" srcId="{58A16471-8616-4F60-8660-33472D376A10}" destId="{7A1DEDB7-F034-4C37-844C-1A3F0089AD13}" srcOrd="2" destOrd="0" presId="urn:microsoft.com/office/officeart/2018/2/layout/IconVerticalSolidList"/>
    <dgm:cxn modelId="{913F96AE-8B7B-446D-B2E7-B22E91AA081C}" type="presParOf" srcId="{58A16471-8616-4F60-8660-33472D376A10}" destId="{8F871850-610A-459A-B501-1B090997F2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A30FDA-3897-4164-A0AB-5F9A58251E04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E6D5230-422F-41E6-8447-16937D1F80AD}">
      <dgm:prSet/>
      <dgm:spPr/>
      <dgm:t>
        <a:bodyPr/>
        <a:lstStyle/>
        <a:p>
          <a:r>
            <a:rPr lang="en-US" b="0" i="0" baseline="0"/>
            <a:t>Les produits affichent un niveau de satisfaction élevé et un taux de retour très faible.</a:t>
          </a:r>
          <a:endParaRPr lang="en-US"/>
        </a:p>
      </dgm:t>
    </dgm:pt>
    <dgm:pt modelId="{26D5EAE4-37AF-4BDC-8737-70B258223EAB}" type="parTrans" cxnId="{29C13FD6-06BE-43D0-A9B9-44FFA61A5E2A}">
      <dgm:prSet/>
      <dgm:spPr/>
      <dgm:t>
        <a:bodyPr/>
        <a:lstStyle/>
        <a:p>
          <a:endParaRPr lang="en-US"/>
        </a:p>
      </dgm:t>
    </dgm:pt>
    <dgm:pt modelId="{023440CE-BCDE-4289-8AE5-83F20CF0BD33}" type="sibTrans" cxnId="{29C13FD6-06BE-43D0-A9B9-44FFA61A5E2A}">
      <dgm:prSet/>
      <dgm:spPr/>
      <dgm:t>
        <a:bodyPr/>
        <a:lstStyle/>
        <a:p>
          <a:endParaRPr lang="en-US"/>
        </a:p>
      </dgm:t>
    </dgm:pt>
    <dgm:pt modelId="{E57535AE-50EE-4708-A4E3-16CB784A20E0}">
      <dgm:prSet/>
      <dgm:spPr/>
      <dgm:t>
        <a:bodyPr/>
        <a:lstStyle/>
        <a:p>
          <a:r>
            <a:rPr lang="en-US" b="0" i="0" baseline="0"/>
            <a:t>La politique de remise d’EduMart est cohérente, avec un taux moyen d’environ 11 %.</a:t>
          </a:r>
          <a:endParaRPr lang="en-US"/>
        </a:p>
      </dgm:t>
    </dgm:pt>
    <dgm:pt modelId="{CAA690C0-2CAB-477B-AEDB-36E40E5C21DB}" type="parTrans" cxnId="{112C3114-761E-4526-B43C-1D25ECA2A21D}">
      <dgm:prSet/>
      <dgm:spPr/>
      <dgm:t>
        <a:bodyPr/>
        <a:lstStyle/>
        <a:p>
          <a:endParaRPr lang="en-US"/>
        </a:p>
      </dgm:t>
    </dgm:pt>
    <dgm:pt modelId="{554E6785-5ACF-45A2-B4C2-1684DD932871}" type="sibTrans" cxnId="{112C3114-761E-4526-B43C-1D25ECA2A21D}">
      <dgm:prSet/>
      <dgm:spPr/>
      <dgm:t>
        <a:bodyPr/>
        <a:lstStyle/>
        <a:p>
          <a:endParaRPr lang="en-US"/>
        </a:p>
      </dgm:t>
    </dgm:pt>
    <dgm:pt modelId="{07648FD7-B73A-4166-A576-2D3878DD682A}">
      <dgm:prSet/>
      <dgm:spPr/>
      <dgm:t>
        <a:bodyPr/>
        <a:lstStyle/>
        <a:p>
          <a:r>
            <a:rPr lang="en-US" b="0" i="0" baseline="0"/>
            <a:t>Le chiffre d’affaires évolue de manière irrégulière, avec une baisse observée sur les derniers mois.</a:t>
          </a:r>
          <a:endParaRPr lang="en-US"/>
        </a:p>
      </dgm:t>
    </dgm:pt>
    <dgm:pt modelId="{B485A05E-245F-423D-98F3-0997CF48F403}" type="parTrans" cxnId="{37B4279C-E590-48AB-96B2-223801D44123}">
      <dgm:prSet/>
      <dgm:spPr/>
      <dgm:t>
        <a:bodyPr/>
        <a:lstStyle/>
        <a:p>
          <a:endParaRPr lang="en-US"/>
        </a:p>
      </dgm:t>
    </dgm:pt>
    <dgm:pt modelId="{AC9E601E-8A6B-445B-ACF8-8D035CC26B3B}" type="sibTrans" cxnId="{37B4279C-E590-48AB-96B2-223801D44123}">
      <dgm:prSet/>
      <dgm:spPr/>
      <dgm:t>
        <a:bodyPr/>
        <a:lstStyle/>
        <a:p>
          <a:endParaRPr lang="en-US"/>
        </a:p>
      </dgm:t>
    </dgm:pt>
    <dgm:pt modelId="{4ECE2595-C958-416E-9A12-42CF6BA13D91}">
      <dgm:prSet/>
      <dgm:spPr/>
      <dgm:t>
        <a:bodyPr/>
        <a:lstStyle/>
        <a:p>
          <a:r>
            <a:rPr lang="en-US" b="0" i="0" baseline="0"/>
            <a:t>Une analyse complémentaire est nécessaire pour en identifier les causes.</a:t>
          </a:r>
          <a:endParaRPr lang="en-US"/>
        </a:p>
      </dgm:t>
    </dgm:pt>
    <dgm:pt modelId="{7E2D491C-DC8C-4417-8E33-EE3668EDA679}" type="parTrans" cxnId="{37DFD6EB-C662-43AA-B2FE-4A03DCFD830D}">
      <dgm:prSet/>
      <dgm:spPr/>
      <dgm:t>
        <a:bodyPr/>
        <a:lstStyle/>
        <a:p>
          <a:endParaRPr lang="en-US"/>
        </a:p>
      </dgm:t>
    </dgm:pt>
    <dgm:pt modelId="{23BFC4F3-7C8A-4969-8C52-BEBEF0DB3D2D}" type="sibTrans" cxnId="{37DFD6EB-C662-43AA-B2FE-4A03DCFD830D}">
      <dgm:prSet/>
      <dgm:spPr/>
      <dgm:t>
        <a:bodyPr/>
        <a:lstStyle/>
        <a:p>
          <a:endParaRPr lang="en-US"/>
        </a:p>
      </dgm:t>
    </dgm:pt>
    <dgm:pt modelId="{F07E0E67-F6BE-4DD2-A086-B815943F8B4E}" type="pres">
      <dgm:prSet presAssocID="{A0A30FDA-3897-4164-A0AB-5F9A58251E04}" presName="outerComposite" presStyleCnt="0">
        <dgm:presLayoutVars>
          <dgm:chMax val="5"/>
          <dgm:dir/>
          <dgm:resizeHandles val="exact"/>
        </dgm:presLayoutVars>
      </dgm:prSet>
      <dgm:spPr/>
    </dgm:pt>
    <dgm:pt modelId="{DAC976C7-7D08-461A-ACDE-DA81E3F82049}" type="pres">
      <dgm:prSet presAssocID="{A0A30FDA-3897-4164-A0AB-5F9A58251E04}" presName="dummyMaxCanvas" presStyleCnt="0">
        <dgm:presLayoutVars/>
      </dgm:prSet>
      <dgm:spPr/>
    </dgm:pt>
    <dgm:pt modelId="{B705A1D9-A194-4E20-A11E-36404F3273BD}" type="pres">
      <dgm:prSet presAssocID="{A0A30FDA-3897-4164-A0AB-5F9A58251E04}" presName="FourNodes_1" presStyleLbl="node1" presStyleIdx="0" presStyleCnt="4">
        <dgm:presLayoutVars>
          <dgm:bulletEnabled val="1"/>
        </dgm:presLayoutVars>
      </dgm:prSet>
      <dgm:spPr/>
    </dgm:pt>
    <dgm:pt modelId="{EB67DD21-BC04-46AE-82B9-AD69BE4DA24A}" type="pres">
      <dgm:prSet presAssocID="{A0A30FDA-3897-4164-A0AB-5F9A58251E04}" presName="FourNodes_2" presStyleLbl="node1" presStyleIdx="1" presStyleCnt="4">
        <dgm:presLayoutVars>
          <dgm:bulletEnabled val="1"/>
        </dgm:presLayoutVars>
      </dgm:prSet>
      <dgm:spPr/>
    </dgm:pt>
    <dgm:pt modelId="{049391E6-A1E1-41E7-8EF1-B7AE76FBB6DA}" type="pres">
      <dgm:prSet presAssocID="{A0A30FDA-3897-4164-A0AB-5F9A58251E04}" presName="FourNodes_3" presStyleLbl="node1" presStyleIdx="2" presStyleCnt="4">
        <dgm:presLayoutVars>
          <dgm:bulletEnabled val="1"/>
        </dgm:presLayoutVars>
      </dgm:prSet>
      <dgm:spPr/>
    </dgm:pt>
    <dgm:pt modelId="{0827951F-0C2D-4581-B14A-405964AE117C}" type="pres">
      <dgm:prSet presAssocID="{A0A30FDA-3897-4164-A0AB-5F9A58251E04}" presName="FourNodes_4" presStyleLbl="node1" presStyleIdx="3" presStyleCnt="4">
        <dgm:presLayoutVars>
          <dgm:bulletEnabled val="1"/>
        </dgm:presLayoutVars>
      </dgm:prSet>
      <dgm:spPr/>
    </dgm:pt>
    <dgm:pt modelId="{3B0E83C5-442C-4EF9-B9F6-32C9DBDC1B81}" type="pres">
      <dgm:prSet presAssocID="{A0A30FDA-3897-4164-A0AB-5F9A58251E04}" presName="FourConn_1-2" presStyleLbl="fgAccFollowNode1" presStyleIdx="0" presStyleCnt="3">
        <dgm:presLayoutVars>
          <dgm:bulletEnabled val="1"/>
        </dgm:presLayoutVars>
      </dgm:prSet>
      <dgm:spPr/>
    </dgm:pt>
    <dgm:pt modelId="{10320051-A5F8-4F48-9D98-46CD941DD972}" type="pres">
      <dgm:prSet presAssocID="{A0A30FDA-3897-4164-A0AB-5F9A58251E04}" presName="FourConn_2-3" presStyleLbl="fgAccFollowNode1" presStyleIdx="1" presStyleCnt="3">
        <dgm:presLayoutVars>
          <dgm:bulletEnabled val="1"/>
        </dgm:presLayoutVars>
      </dgm:prSet>
      <dgm:spPr/>
    </dgm:pt>
    <dgm:pt modelId="{712643AF-7423-470F-9C8C-4C1652B19475}" type="pres">
      <dgm:prSet presAssocID="{A0A30FDA-3897-4164-A0AB-5F9A58251E04}" presName="FourConn_3-4" presStyleLbl="fgAccFollowNode1" presStyleIdx="2" presStyleCnt="3">
        <dgm:presLayoutVars>
          <dgm:bulletEnabled val="1"/>
        </dgm:presLayoutVars>
      </dgm:prSet>
      <dgm:spPr/>
    </dgm:pt>
    <dgm:pt modelId="{3032B4DE-FE92-45E7-8D78-AFBB9DFA2641}" type="pres">
      <dgm:prSet presAssocID="{A0A30FDA-3897-4164-A0AB-5F9A58251E04}" presName="FourNodes_1_text" presStyleLbl="node1" presStyleIdx="3" presStyleCnt="4">
        <dgm:presLayoutVars>
          <dgm:bulletEnabled val="1"/>
        </dgm:presLayoutVars>
      </dgm:prSet>
      <dgm:spPr/>
    </dgm:pt>
    <dgm:pt modelId="{DBDFC2E1-F6C9-41F7-9876-F5FB0E33CAF4}" type="pres">
      <dgm:prSet presAssocID="{A0A30FDA-3897-4164-A0AB-5F9A58251E04}" presName="FourNodes_2_text" presStyleLbl="node1" presStyleIdx="3" presStyleCnt="4">
        <dgm:presLayoutVars>
          <dgm:bulletEnabled val="1"/>
        </dgm:presLayoutVars>
      </dgm:prSet>
      <dgm:spPr/>
    </dgm:pt>
    <dgm:pt modelId="{3D6C44E9-318D-415D-ADC4-8CB37E628FE6}" type="pres">
      <dgm:prSet presAssocID="{A0A30FDA-3897-4164-A0AB-5F9A58251E04}" presName="FourNodes_3_text" presStyleLbl="node1" presStyleIdx="3" presStyleCnt="4">
        <dgm:presLayoutVars>
          <dgm:bulletEnabled val="1"/>
        </dgm:presLayoutVars>
      </dgm:prSet>
      <dgm:spPr/>
    </dgm:pt>
    <dgm:pt modelId="{D4CF25DE-437D-4491-8257-21043443C673}" type="pres">
      <dgm:prSet presAssocID="{A0A30FDA-3897-4164-A0AB-5F9A58251E0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8AE4B09-A47A-43C5-A360-F353A6D06742}" type="presOf" srcId="{5E6D5230-422F-41E6-8447-16937D1F80AD}" destId="{B705A1D9-A194-4E20-A11E-36404F3273BD}" srcOrd="0" destOrd="0" presId="urn:microsoft.com/office/officeart/2005/8/layout/vProcess5"/>
    <dgm:cxn modelId="{112C3114-761E-4526-B43C-1D25ECA2A21D}" srcId="{A0A30FDA-3897-4164-A0AB-5F9A58251E04}" destId="{E57535AE-50EE-4708-A4E3-16CB784A20E0}" srcOrd="1" destOrd="0" parTransId="{CAA690C0-2CAB-477B-AEDB-36E40E5C21DB}" sibTransId="{554E6785-5ACF-45A2-B4C2-1684DD932871}"/>
    <dgm:cxn modelId="{58448E18-F763-494F-86EB-314C0207DCB7}" type="presOf" srcId="{554E6785-5ACF-45A2-B4C2-1684DD932871}" destId="{10320051-A5F8-4F48-9D98-46CD941DD972}" srcOrd="0" destOrd="0" presId="urn:microsoft.com/office/officeart/2005/8/layout/vProcess5"/>
    <dgm:cxn modelId="{CF21626E-D1C8-40C5-91D5-518DFF94477A}" type="presOf" srcId="{4ECE2595-C958-416E-9A12-42CF6BA13D91}" destId="{0827951F-0C2D-4581-B14A-405964AE117C}" srcOrd="0" destOrd="0" presId="urn:microsoft.com/office/officeart/2005/8/layout/vProcess5"/>
    <dgm:cxn modelId="{1A466256-4567-4DAC-9049-CB13BA2C1DC5}" type="presOf" srcId="{4ECE2595-C958-416E-9A12-42CF6BA13D91}" destId="{D4CF25DE-437D-4491-8257-21043443C673}" srcOrd="1" destOrd="0" presId="urn:microsoft.com/office/officeart/2005/8/layout/vProcess5"/>
    <dgm:cxn modelId="{CEF3EB7C-D3C9-4A16-8718-63A8D80718B8}" type="presOf" srcId="{5E6D5230-422F-41E6-8447-16937D1F80AD}" destId="{3032B4DE-FE92-45E7-8D78-AFBB9DFA2641}" srcOrd="1" destOrd="0" presId="urn:microsoft.com/office/officeart/2005/8/layout/vProcess5"/>
    <dgm:cxn modelId="{40C5A67D-E752-4048-AA51-EFDA67189AC0}" type="presOf" srcId="{07648FD7-B73A-4166-A576-2D3878DD682A}" destId="{3D6C44E9-318D-415D-ADC4-8CB37E628FE6}" srcOrd="1" destOrd="0" presId="urn:microsoft.com/office/officeart/2005/8/layout/vProcess5"/>
    <dgm:cxn modelId="{6FAE6C91-436A-4FE2-8DCE-BFBFA5A9DE3A}" type="presOf" srcId="{AC9E601E-8A6B-445B-ACF8-8D035CC26B3B}" destId="{712643AF-7423-470F-9C8C-4C1652B19475}" srcOrd="0" destOrd="0" presId="urn:microsoft.com/office/officeart/2005/8/layout/vProcess5"/>
    <dgm:cxn modelId="{37B4279C-E590-48AB-96B2-223801D44123}" srcId="{A0A30FDA-3897-4164-A0AB-5F9A58251E04}" destId="{07648FD7-B73A-4166-A576-2D3878DD682A}" srcOrd="2" destOrd="0" parTransId="{B485A05E-245F-423D-98F3-0997CF48F403}" sibTransId="{AC9E601E-8A6B-445B-ACF8-8D035CC26B3B}"/>
    <dgm:cxn modelId="{51E85F9E-8B0D-431A-8EC5-BFE6B0A68BEC}" type="presOf" srcId="{E57535AE-50EE-4708-A4E3-16CB784A20E0}" destId="{EB67DD21-BC04-46AE-82B9-AD69BE4DA24A}" srcOrd="0" destOrd="0" presId="urn:microsoft.com/office/officeart/2005/8/layout/vProcess5"/>
    <dgm:cxn modelId="{70F012AE-54C3-4225-BB7E-710F44235E19}" type="presOf" srcId="{E57535AE-50EE-4708-A4E3-16CB784A20E0}" destId="{DBDFC2E1-F6C9-41F7-9876-F5FB0E33CAF4}" srcOrd="1" destOrd="0" presId="urn:microsoft.com/office/officeart/2005/8/layout/vProcess5"/>
    <dgm:cxn modelId="{29C13FD6-06BE-43D0-A9B9-44FFA61A5E2A}" srcId="{A0A30FDA-3897-4164-A0AB-5F9A58251E04}" destId="{5E6D5230-422F-41E6-8447-16937D1F80AD}" srcOrd="0" destOrd="0" parTransId="{26D5EAE4-37AF-4BDC-8737-70B258223EAB}" sibTransId="{023440CE-BCDE-4289-8AE5-83F20CF0BD33}"/>
    <dgm:cxn modelId="{DCA71FDA-524E-41D4-B6D1-514647A144A1}" type="presOf" srcId="{A0A30FDA-3897-4164-A0AB-5F9A58251E04}" destId="{F07E0E67-F6BE-4DD2-A086-B815943F8B4E}" srcOrd="0" destOrd="0" presId="urn:microsoft.com/office/officeart/2005/8/layout/vProcess5"/>
    <dgm:cxn modelId="{5F2253DA-474F-4C63-96D7-0F0799FA246B}" type="presOf" srcId="{07648FD7-B73A-4166-A576-2D3878DD682A}" destId="{049391E6-A1E1-41E7-8EF1-B7AE76FBB6DA}" srcOrd="0" destOrd="0" presId="urn:microsoft.com/office/officeart/2005/8/layout/vProcess5"/>
    <dgm:cxn modelId="{F850AFE1-3FC8-4795-8BA9-95C28E5BEBC4}" type="presOf" srcId="{023440CE-BCDE-4289-8AE5-83F20CF0BD33}" destId="{3B0E83C5-442C-4EF9-B9F6-32C9DBDC1B81}" srcOrd="0" destOrd="0" presId="urn:microsoft.com/office/officeart/2005/8/layout/vProcess5"/>
    <dgm:cxn modelId="{37DFD6EB-C662-43AA-B2FE-4A03DCFD830D}" srcId="{A0A30FDA-3897-4164-A0AB-5F9A58251E04}" destId="{4ECE2595-C958-416E-9A12-42CF6BA13D91}" srcOrd="3" destOrd="0" parTransId="{7E2D491C-DC8C-4417-8E33-EE3668EDA679}" sibTransId="{23BFC4F3-7C8A-4969-8C52-BEBEF0DB3D2D}"/>
    <dgm:cxn modelId="{D3DA20EF-5DA5-45B5-B2D0-DC7A8C26423C}" type="presParOf" srcId="{F07E0E67-F6BE-4DD2-A086-B815943F8B4E}" destId="{DAC976C7-7D08-461A-ACDE-DA81E3F82049}" srcOrd="0" destOrd="0" presId="urn:microsoft.com/office/officeart/2005/8/layout/vProcess5"/>
    <dgm:cxn modelId="{7EEC67BE-23B7-4E6A-8D19-F09EC8636057}" type="presParOf" srcId="{F07E0E67-F6BE-4DD2-A086-B815943F8B4E}" destId="{B705A1D9-A194-4E20-A11E-36404F3273BD}" srcOrd="1" destOrd="0" presId="urn:microsoft.com/office/officeart/2005/8/layout/vProcess5"/>
    <dgm:cxn modelId="{DB3783BC-998F-441F-A793-0C94F195E669}" type="presParOf" srcId="{F07E0E67-F6BE-4DD2-A086-B815943F8B4E}" destId="{EB67DD21-BC04-46AE-82B9-AD69BE4DA24A}" srcOrd="2" destOrd="0" presId="urn:microsoft.com/office/officeart/2005/8/layout/vProcess5"/>
    <dgm:cxn modelId="{1271CC1F-0E62-417C-ACD7-B959437220EA}" type="presParOf" srcId="{F07E0E67-F6BE-4DD2-A086-B815943F8B4E}" destId="{049391E6-A1E1-41E7-8EF1-B7AE76FBB6DA}" srcOrd="3" destOrd="0" presId="urn:microsoft.com/office/officeart/2005/8/layout/vProcess5"/>
    <dgm:cxn modelId="{B01020B0-F698-49B1-BCB8-0D05C910BBC0}" type="presParOf" srcId="{F07E0E67-F6BE-4DD2-A086-B815943F8B4E}" destId="{0827951F-0C2D-4581-B14A-405964AE117C}" srcOrd="4" destOrd="0" presId="urn:microsoft.com/office/officeart/2005/8/layout/vProcess5"/>
    <dgm:cxn modelId="{AA2BBC15-CD83-4153-B2B6-86ECBC00BA4D}" type="presParOf" srcId="{F07E0E67-F6BE-4DD2-A086-B815943F8B4E}" destId="{3B0E83C5-442C-4EF9-B9F6-32C9DBDC1B81}" srcOrd="5" destOrd="0" presId="urn:microsoft.com/office/officeart/2005/8/layout/vProcess5"/>
    <dgm:cxn modelId="{BBCB775B-96E9-43A4-B884-2DF8265E9402}" type="presParOf" srcId="{F07E0E67-F6BE-4DD2-A086-B815943F8B4E}" destId="{10320051-A5F8-4F48-9D98-46CD941DD972}" srcOrd="6" destOrd="0" presId="urn:microsoft.com/office/officeart/2005/8/layout/vProcess5"/>
    <dgm:cxn modelId="{8B5F153A-19AD-4649-A17A-27A2A4EB65FF}" type="presParOf" srcId="{F07E0E67-F6BE-4DD2-A086-B815943F8B4E}" destId="{712643AF-7423-470F-9C8C-4C1652B19475}" srcOrd="7" destOrd="0" presId="urn:microsoft.com/office/officeart/2005/8/layout/vProcess5"/>
    <dgm:cxn modelId="{DB820B73-CE9E-4386-8E93-5A52B48FC696}" type="presParOf" srcId="{F07E0E67-F6BE-4DD2-A086-B815943F8B4E}" destId="{3032B4DE-FE92-45E7-8D78-AFBB9DFA2641}" srcOrd="8" destOrd="0" presId="urn:microsoft.com/office/officeart/2005/8/layout/vProcess5"/>
    <dgm:cxn modelId="{94A50EF8-5CC5-4CE1-A13C-F9A60E66B8BB}" type="presParOf" srcId="{F07E0E67-F6BE-4DD2-A086-B815943F8B4E}" destId="{DBDFC2E1-F6C9-41F7-9876-F5FB0E33CAF4}" srcOrd="9" destOrd="0" presId="urn:microsoft.com/office/officeart/2005/8/layout/vProcess5"/>
    <dgm:cxn modelId="{ABA23E17-E26C-4ACA-BA6C-E456B7F6DEA6}" type="presParOf" srcId="{F07E0E67-F6BE-4DD2-A086-B815943F8B4E}" destId="{3D6C44E9-318D-415D-ADC4-8CB37E628FE6}" srcOrd="10" destOrd="0" presId="urn:microsoft.com/office/officeart/2005/8/layout/vProcess5"/>
    <dgm:cxn modelId="{EE805D1C-CCBA-4B89-8759-31462BB3D651}" type="presParOf" srcId="{F07E0E67-F6BE-4DD2-A086-B815943F8B4E}" destId="{D4CF25DE-437D-4491-8257-21043443C67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E8F19C-AD1C-4106-8F06-D96E79EACB3F}">
      <dsp:nvSpPr>
        <dsp:cNvPr id="0" name=""/>
        <dsp:cNvSpPr/>
      </dsp:nvSpPr>
      <dsp:spPr>
        <a:xfrm>
          <a:off x="0" y="540837"/>
          <a:ext cx="2707138" cy="1719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DB6F8-68D5-4DCB-93C6-84100C7FDE3A}">
      <dsp:nvSpPr>
        <dsp:cNvPr id="0" name=""/>
        <dsp:cNvSpPr/>
      </dsp:nvSpPr>
      <dsp:spPr>
        <a:xfrm>
          <a:off x="300793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Dans un premier temps, nous avons réalisé une série de traitements au niveau des données.</a:t>
          </a:r>
          <a:endParaRPr lang="en-US" sz="1700" kern="1200" dirty="0"/>
        </a:p>
      </dsp:txBody>
      <dsp:txXfrm>
        <a:off x="351142" y="876939"/>
        <a:ext cx="2606440" cy="1618335"/>
      </dsp:txXfrm>
    </dsp:sp>
    <dsp:sp modelId="{B4B9D428-2679-4CFB-A1CE-D6D22A91CF50}">
      <dsp:nvSpPr>
        <dsp:cNvPr id="0" name=""/>
        <dsp:cNvSpPr/>
      </dsp:nvSpPr>
      <dsp:spPr>
        <a:xfrm>
          <a:off x="3308725" y="540837"/>
          <a:ext cx="2707138" cy="1719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10A03-20E8-4875-B789-6AC9548370A3}">
      <dsp:nvSpPr>
        <dsp:cNvPr id="0" name=""/>
        <dsp:cNvSpPr/>
      </dsp:nvSpPr>
      <dsp:spPr>
        <a:xfrm>
          <a:off x="3609518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Ensuite, nous avons joint les différentes tables afin d’obtenir un jeu de données beaucoup plus enrichi.</a:t>
          </a:r>
          <a:endParaRPr lang="en-US" sz="1700" kern="1200" dirty="0"/>
        </a:p>
      </dsp:txBody>
      <dsp:txXfrm>
        <a:off x="3659867" y="876939"/>
        <a:ext cx="2606440" cy="1618335"/>
      </dsp:txXfrm>
    </dsp:sp>
    <dsp:sp modelId="{86C35E60-122C-4864-9B1B-6D22D6666E1C}">
      <dsp:nvSpPr>
        <dsp:cNvPr id="0" name=""/>
        <dsp:cNvSpPr/>
      </dsp:nvSpPr>
      <dsp:spPr>
        <a:xfrm>
          <a:off x="6617450" y="540837"/>
          <a:ext cx="2707138" cy="1719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81907-728A-47E9-825B-1C75CB549510}">
      <dsp:nvSpPr>
        <dsp:cNvPr id="0" name=""/>
        <dsp:cNvSpPr/>
      </dsp:nvSpPr>
      <dsp:spPr>
        <a:xfrm>
          <a:off x="6918244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Pour finir, nous avons analysé les ventes en faisant ressortir les indicateurs clés de performance (ICP).</a:t>
          </a:r>
          <a:endParaRPr lang="en-US" sz="1700" kern="1200"/>
        </a:p>
      </dsp:txBody>
      <dsp:txXfrm>
        <a:off x="6968593" y="876939"/>
        <a:ext cx="2606440" cy="16183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249C0-EBD5-438B-B03A-4C58E6BE58D2}">
      <dsp:nvSpPr>
        <dsp:cNvPr id="0" name=""/>
        <dsp:cNvSpPr/>
      </dsp:nvSpPr>
      <dsp:spPr>
        <a:xfrm>
          <a:off x="0" y="852586"/>
          <a:ext cx="6391275" cy="15740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33766-FDD5-4660-BC11-4F03F1EA56F2}">
      <dsp:nvSpPr>
        <dsp:cNvPr id="0" name=""/>
        <dsp:cNvSpPr/>
      </dsp:nvSpPr>
      <dsp:spPr>
        <a:xfrm>
          <a:off x="476136" y="1206738"/>
          <a:ext cx="865703" cy="865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95097-C29C-488E-9A6A-0D927A968142}">
      <dsp:nvSpPr>
        <dsp:cNvPr id="0" name=""/>
        <dsp:cNvSpPr/>
      </dsp:nvSpPr>
      <dsp:spPr>
        <a:xfrm>
          <a:off x="1817977" y="852586"/>
          <a:ext cx="4573297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Notre jeu de données est composé de trois fichiers CSV décrivant les clients, les produits et les transactions de l’entreprise EduMart.</a:t>
          </a:r>
        </a:p>
      </dsp:txBody>
      <dsp:txXfrm>
        <a:off x="1817977" y="852586"/>
        <a:ext cx="4573297" cy="1574006"/>
      </dsp:txXfrm>
    </dsp:sp>
    <dsp:sp modelId="{66FA3081-3B6D-402D-BF4D-2C6EFB19EC73}">
      <dsp:nvSpPr>
        <dsp:cNvPr id="0" name=""/>
        <dsp:cNvSpPr/>
      </dsp:nvSpPr>
      <dsp:spPr>
        <a:xfrm>
          <a:off x="0" y="2820094"/>
          <a:ext cx="6391275" cy="15740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058FA-5287-4EC3-9D63-72C557BE9697}">
      <dsp:nvSpPr>
        <dsp:cNvPr id="0" name=""/>
        <dsp:cNvSpPr/>
      </dsp:nvSpPr>
      <dsp:spPr>
        <a:xfrm>
          <a:off x="476136" y="3174245"/>
          <a:ext cx="865703" cy="865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71850-610A-459A-B501-1B090997F29A}">
      <dsp:nvSpPr>
        <dsp:cNvPr id="0" name=""/>
        <dsp:cNvSpPr/>
      </dsp:nvSpPr>
      <dsp:spPr>
        <a:xfrm>
          <a:off x="1817977" y="2820094"/>
          <a:ext cx="4573297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Les données vont de la période allant de 2024 à 2025. Le dataset qui enregistre les transactions comptent environ 2200 lignes.</a:t>
          </a:r>
        </a:p>
      </dsp:txBody>
      <dsp:txXfrm>
        <a:off x="1817977" y="2820094"/>
        <a:ext cx="4573297" cy="15740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5A1D9-A194-4E20-A11E-36404F3273BD}">
      <dsp:nvSpPr>
        <dsp:cNvPr id="0" name=""/>
        <dsp:cNvSpPr/>
      </dsp:nvSpPr>
      <dsp:spPr>
        <a:xfrm>
          <a:off x="0" y="0"/>
          <a:ext cx="7700306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Les produits affichent un niveau de satisfaction élevé et un taux de retour très faible.</a:t>
          </a:r>
          <a:endParaRPr lang="en-US" sz="1900" kern="1200"/>
        </a:p>
      </dsp:txBody>
      <dsp:txXfrm>
        <a:off x="22054" y="22054"/>
        <a:ext cx="6824144" cy="708882"/>
      </dsp:txXfrm>
    </dsp:sp>
    <dsp:sp modelId="{EB67DD21-BC04-46AE-82B9-AD69BE4DA24A}">
      <dsp:nvSpPr>
        <dsp:cNvPr id="0" name=""/>
        <dsp:cNvSpPr/>
      </dsp:nvSpPr>
      <dsp:spPr>
        <a:xfrm>
          <a:off x="644900" y="889897"/>
          <a:ext cx="7700306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La politique de remise d’EduMart est cohérente, avec un taux moyen d’environ 11 %.</a:t>
          </a:r>
          <a:endParaRPr lang="en-US" sz="1900" kern="1200"/>
        </a:p>
      </dsp:txBody>
      <dsp:txXfrm>
        <a:off x="666954" y="911951"/>
        <a:ext cx="6521854" cy="708882"/>
      </dsp:txXfrm>
    </dsp:sp>
    <dsp:sp modelId="{049391E6-A1E1-41E7-8EF1-B7AE76FBB6DA}">
      <dsp:nvSpPr>
        <dsp:cNvPr id="0" name=""/>
        <dsp:cNvSpPr/>
      </dsp:nvSpPr>
      <dsp:spPr>
        <a:xfrm>
          <a:off x="1280175" y="1779795"/>
          <a:ext cx="7700306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Le chiffre d’affaires évolue de manière irrégulière, avec une baisse observée sur les derniers mois.</a:t>
          </a:r>
          <a:endParaRPr lang="en-US" sz="1900" kern="1200"/>
        </a:p>
      </dsp:txBody>
      <dsp:txXfrm>
        <a:off x="1302229" y="1801849"/>
        <a:ext cx="6531479" cy="708882"/>
      </dsp:txXfrm>
    </dsp:sp>
    <dsp:sp modelId="{0827951F-0C2D-4581-B14A-405964AE117C}">
      <dsp:nvSpPr>
        <dsp:cNvPr id="0" name=""/>
        <dsp:cNvSpPr/>
      </dsp:nvSpPr>
      <dsp:spPr>
        <a:xfrm>
          <a:off x="1925076" y="2669692"/>
          <a:ext cx="7700306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Une analyse complémentaire est nécessaire pour en identifier les causes.</a:t>
          </a:r>
          <a:endParaRPr lang="en-US" sz="1900" kern="1200"/>
        </a:p>
      </dsp:txBody>
      <dsp:txXfrm>
        <a:off x="1947130" y="2691746"/>
        <a:ext cx="6521854" cy="708882"/>
      </dsp:txXfrm>
    </dsp:sp>
    <dsp:sp modelId="{3B0E83C5-442C-4EF9-B9F6-32C9DBDC1B81}">
      <dsp:nvSpPr>
        <dsp:cNvPr id="0" name=""/>
        <dsp:cNvSpPr/>
      </dsp:nvSpPr>
      <dsp:spPr>
        <a:xfrm>
          <a:off x="7210862" y="576722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320987" y="576722"/>
        <a:ext cx="269193" cy="368306"/>
      </dsp:txXfrm>
    </dsp:sp>
    <dsp:sp modelId="{10320051-A5F8-4F48-9D98-46CD941DD972}">
      <dsp:nvSpPr>
        <dsp:cNvPr id="0" name=""/>
        <dsp:cNvSpPr/>
      </dsp:nvSpPr>
      <dsp:spPr>
        <a:xfrm>
          <a:off x="7855763" y="1466619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965888" y="1466619"/>
        <a:ext cx="269193" cy="368306"/>
      </dsp:txXfrm>
    </dsp:sp>
    <dsp:sp modelId="{712643AF-7423-470F-9C8C-4C1652B19475}">
      <dsp:nvSpPr>
        <dsp:cNvPr id="0" name=""/>
        <dsp:cNvSpPr/>
      </dsp:nvSpPr>
      <dsp:spPr>
        <a:xfrm>
          <a:off x="8491038" y="2356517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601163" y="2356517"/>
        <a:ext cx="269193" cy="368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9E4DD-8330-0218-79A7-8B68B3D2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4A682-6616-A0B5-0341-359FD2E3F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F450D-9858-C525-B2DE-93FD493FB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AB1BF-918C-DC7F-BFA3-A235EB7CE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47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E617-DE18-4404-B06F-18514BE8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06042-0B07-90E1-094E-C7F049034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2E3B6-66DB-6782-B5C2-8A5699549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0523C-131E-0CA8-E70F-6A994CD86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18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1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52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2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3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6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8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68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9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69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65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45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63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35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68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098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095968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08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206567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33315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466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6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203475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1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4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  <p:sldLayoutId id="2147483660" r:id="rId25"/>
    <p:sldLayoutId id="2147483652" r:id="rId26"/>
    <p:sldLayoutId id="2147483666" r:id="rId27"/>
    <p:sldLayoutId id="2147483664" r:id="rId28"/>
    <p:sldLayoutId id="2147483665" r:id="rId29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github.com/Poincare008/Mini_Projet_Pandas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5788C1E-B919-C694-3A79-950EB096F7C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 r="39434" b="-1"/>
          <a:stretch>
            <a:fillRect/>
          </a:stretch>
        </p:blipFill>
        <p:spPr>
          <a:xfrm>
            <a:off x="423337" y="402166"/>
            <a:ext cx="4932951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5061" y="1241266"/>
            <a:ext cx="5428551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br>
              <a:rPr lang="en-US" sz="1800">
                <a:solidFill>
                  <a:schemeClr val="bg2"/>
                </a:solidFill>
              </a:rPr>
            </a:br>
            <a:br>
              <a:rPr lang="en-US" sz="1800">
                <a:solidFill>
                  <a:schemeClr val="bg2"/>
                </a:solidFill>
              </a:rPr>
            </a:br>
            <a:br>
              <a:rPr lang="en-US" sz="1800">
                <a:solidFill>
                  <a:schemeClr val="bg2"/>
                </a:solidFill>
              </a:rPr>
            </a:br>
            <a:r>
              <a:rPr lang="en-US" sz="1800">
                <a:solidFill>
                  <a:schemeClr val="bg2"/>
                </a:solidFill>
              </a:rPr>
              <a:t>Professeur : Dr. Evens Toussaint</a:t>
            </a:r>
            <a:br>
              <a:rPr lang="en-US" sz="1800">
                <a:solidFill>
                  <a:schemeClr val="bg2"/>
                </a:solidFill>
              </a:rPr>
            </a:br>
            <a:br>
              <a:rPr lang="en-US" sz="1800">
                <a:solidFill>
                  <a:schemeClr val="bg2"/>
                </a:solidFill>
              </a:rPr>
            </a:br>
            <a:br>
              <a:rPr lang="en-US" sz="1800">
                <a:solidFill>
                  <a:schemeClr val="bg2"/>
                </a:solidFill>
              </a:rPr>
            </a:br>
            <a:r>
              <a:rPr lang="en-US" sz="1800">
                <a:solidFill>
                  <a:schemeClr val="bg2"/>
                </a:solidFill>
              </a:rPr>
              <a:t>Étudiant: Jameson PIERREVILLE</a:t>
            </a:r>
            <a:br>
              <a:rPr lang="en-US" sz="1800">
                <a:solidFill>
                  <a:schemeClr val="bg2"/>
                </a:solidFill>
              </a:rPr>
            </a:br>
            <a:br>
              <a:rPr lang="en-US" sz="1800">
                <a:solidFill>
                  <a:schemeClr val="bg2"/>
                </a:solidFill>
              </a:rPr>
            </a:br>
            <a:r>
              <a:rPr lang="en-US" sz="1800">
                <a:solidFill>
                  <a:schemeClr val="bg2"/>
                </a:solidFill>
              </a:rPr>
              <a:t>                Fabrice HERARD</a:t>
            </a:r>
            <a:br>
              <a:rPr lang="en-US" sz="1800">
                <a:solidFill>
                  <a:schemeClr val="bg2"/>
                </a:solidFill>
              </a:rPr>
            </a:br>
            <a:br>
              <a:rPr lang="en-US" sz="1800">
                <a:solidFill>
                  <a:schemeClr val="bg2"/>
                </a:solidFill>
              </a:rPr>
            </a:br>
            <a:r>
              <a:rPr lang="en-US" sz="1800">
                <a:solidFill>
                  <a:schemeClr val="bg2"/>
                </a:solidFill>
              </a:rPr>
              <a:t>                </a:t>
            </a:r>
            <a:r>
              <a:rPr lang="en-US" sz="1800" cap="none">
                <a:solidFill>
                  <a:schemeClr val="bg2"/>
                </a:solidFill>
              </a:rPr>
              <a:t>Steve Calixte</a:t>
            </a:r>
            <a:br>
              <a:rPr lang="en-US" sz="1800" cap="none">
                <a:solidFill>
                  <a:schemeClr val="bg2"/>
                </a:solidFill>
              </a:rPr>
            </a:b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C73D5A-FC79-194F-86CF-AF6DC6745953}"/>
              </a:ext>
            </a:extLst>
          </p:cNvPr>
          <p:cNvSpPr txBox="1"/>
          <p:nvPr/>
        </p:nvSpPr>
        <p:spPr>
          <a:xfrm>
            <a:off x="5361336" y="77663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Analyse</a:t>
            </a:r>
            <a:r>
              <a:rPr lang="en-US" sz="2400" dirty="0">
                <a:solidFill>
                  <a:schemeClr val="bg1"/>
                </a:solidFill>
              </a:rPr>
              <a:t> sur les données de vente </a:t>
            </a:r>
            <a:r>
              <a:rPr lang="en-US" sz="2400" dirty="0" err="1">
                <a:solidFill>
                  <a:schemeClr val="bg1"/>
                </a:solidFill>
              </a:rPr>
              <a:t>d’EduMart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E5D4A15D-C852-47D7-A7E3-7F8FEE9FC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06AA6A2-9E5B-46E6-82B0-8FC1CA723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1E7C01A-5F5B-4E17-B91B-26FA9ADB5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1DA43BF-6FE1-458D-A112-1687677B0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A5FF03-83FF-43B9-B66B-5FD05A958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C4D7AA7-0424-4C72-AE55-4B413DD47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C2D80F1-5DC4-4396-B0E1-C774E82EC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Freeform 5">
              <a:extLst>
                <a:ext uri="{FF2B5EF4-FFF2-40B4-BE49-F238E27FC236}">
                  <a16:creationId xmlns:a16="http://schemas.microsoft.com/office/drawing/2014/main" id="{48171057-920A-4188-A18E-97D710A35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1C871B74-1D69-47F0-A28D-8F3454779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">
              <a:extLst>
                <a:ext uri="{FF2B5EF4-FFF2-40B4-BE49-F238E27FC236}">
                  <a16:creationId xmlns:a16="http://schemas.microsoft.com/office/drawing/2014/main" id="{63001BDC-368C-49CC-9F3F-EAF38A0A4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6288FC2F-B192-42B2-90BE-517E1039B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algn="l">
              <a:spcAft>
                <a:spcPts val="0"/>
              </a:spcAft>
            </a:pPr>
            <a:r>
              <a:rPr lang="en-US" sz="3600">
                <a:solidFill>
                  <a:srgbClr val="EBEBEB"/>
                </a:solidFill>
              </a:rPr>
              <a:t>Resumée</a:t>
            </a:r>
            <a:endParaRPr lang="en-US" sz="3600">
              <a:solidFill>
                <a:srgbClr val="EBEBEB"/>
              </a:solidFill>
              <a:effectLst/>
            </a:endParaRPr>
          </a:p>
        </p:txBody>
      </p:sp>
      <p:graphicFrame>
        <p:nvGraphicFramePr>
          <p:cNvPr id="54" name="Content Placeholder 2">
            <a:extLst>
              <a:ext uri="{FF2B5EF4-FFF2-40B4-BE49-F238E27FC236}">
                <a16:creationId xmlns:a16="http://schemas.microsoft.com/office/drawing/2014/main" id="{E5E980BA-240A-C99C-4EF2-CBC172462F3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838404380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084313B-C03D-4981-9786-879159A60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99190B9-52DD-45DC-BE21-AACE88FEC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EE260A-12FB-4D71-A318-71BED7FF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52EC39A-8D44-4CEF-820F-A442CFA42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D010773-529F-4A3D-A0AB-E7CE12DC6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7582733-2D5B-4103-A63C-0D0D81780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D073C2A-0E86-458E-88D4-27124FDAD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01A64F04-7AF7-48B9-A1B0-956BBCEEF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89ABE99-7694-4211-A627-459BE5422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54B4214-6F53-497C-8322-9CE8158AA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0E145FF-1D18-4246-A2BA-9F6B4D533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372" y="1209957"/>
            <a:ext cx="3034580" cy="44380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cap="none" dirty="0">
                <a:solidFill>
                  <a:schemeClr val="tx1"/>
                </a:solidFill>
              </a:rPr>
              <a:t>Grand Point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B836E89-3F3D-097B-EEC3-B7657A3952C1}"/>
              </a:ext>
            </a:extLst>
          </p:cNvPr>
          <p:cNvSpPr txBox="1"/>
          <p:nvPr/>
        </p:nvSpPr>
        <p:spPr>
          <a:xfrm>
            <a:off x="4678424" y="1059025"/>
            <a:ext cx="5302189" cy="473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2400" dirty="0"/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/>
              <a:t>Data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 err="1"/>
              <a:t>Méthode</a:t>
            </a:r>
            <a:endParaRPr lang="en-US" sz="2400" dirty="0"/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 err="1"/>
              <a:t>Analyse</a:t>
            </a:r>
            <a:endParaRPr lang="en-US" sz="2400" dirty="0"/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E5D4A15D-C852-47D7-A7E3-7F8FEE9FC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06AA6A2-9E5B-46E6-82B0-8FC1CA723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1E7C01A-5F5B-4E17-B91B-26FA9ADB5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1DA43BF-6FE1-458D-A112-1687677B0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AA5FF03-83FF-43B9-B66B-5FD05A958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C4D7AA7-0424-4C72-AE55-4B413DD47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BC2D80F1-5DC4-4396-B0E1-C774E82EC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48171057-920A-4188-A18E-97D710A35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5">
              <a:extLst>
                <a:ext uri="{FF2B5EF4-FFF2-40B4-BE49-F238E27FC236}">
                  <a16:creationId xmlns:a16="http://schemas.microsoft.com/office/drawing/2014/main" id="{1C871B74-1D69-47F0-A28D-8F3454779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5">
              <a:extLst>
                <a:ext uri="{FF2B5EF4-FFF2-40B4-BE49-F238E27FC236}">
                  <a16:creationId xmlns:a16="http://schemas.microsoft.com/office/drawing/2014/main" id="{63001BDC-368C-49CC-9F3F-EAF38A0A4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6288FC2F-B192-42B2-90BE-517E1039B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15A617DB-F143-861F-A286-009F9DD3A03E}"/>
              </a:ext>
            </a:extLst>
          </p:cNvPr>
          <p:cNvSpPr txBox="1">
            <a:spLocks/>
          </p:cNvSpPr>
          <p:nvPr/>
        </p:nvSpPr>
        <p:spPr>
          <a:xfrm>
            <a:off x="1154955" y="973667"/>
            <a:ext cx="2942210" cy="4833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7200">
              <a:spcAft>
                <a:spcPts val="600"/>
              </a:spcAft>
            </a:pPr>
            <a:r>
              <a:rPr lang="en-US" sz="3600">
                <a:solidFill>
                  <a:srgbClr val="EBEBEB"/>
                </a:solidFill>
              </a:rPr>
              <a:t>	Les donnes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2" name="TextBox 14">
            <a:extLst>
              <a:ext uri="{FF2B5EF4-FFF2-40B4-BE49-F238E27FC236}">
                <a16:creationId xmlns:a16="http://schemas.microsoft.com/office/drawing/2014/main" id="{99F60E74-4C29-DB47-9088-2D51481CFA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2711872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AEF28A3-012D-4640-B8B8-1EF6EAF72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3B2F1C2-14D3-4A53-B329-323795BC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94E879E-1515-4211-8F1B-B68A92B2C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7137E7D-1F4E-498A-97D1-0E1FE6FC6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1375183-B6E5-43E0-B28F-39EC90838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67F36BD-A8AF-4304-A662-1007CC174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D9095F-2809-4A90-A032-250AC21C3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Freeform 5">
              <a:extLst>
                <a:ext uri="{FF2B5EF4-FFF2-40B4-BE49-F238E27FC236}">
                  <a16:creationId xmlns:a16="http://schemas.microsoft.com/office/drawing/2014/main" id="{9027D7BF-C282-4477-A406-245C3F265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5">
              <a:extLst>
                <a:ext uri="{FF2B5EF4-FFF2-40B4-BE49-F238E27FC236}">
                  <a16:creationId xmlns:a16="http://schemas.microsoft.com/office/drawing/2014/main" id="{AC3C43D8-426E-472E-A8E8-C41BF7A876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52DCAE0E-B8DE-4C42-A48F-FA0C8345A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59647F54-801D-44AB-8284-EDDFF7763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10C9632-BB6F-48EE-AB65-501878BA5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EC8AAB6-953B-4D29-9967-3C44D06BB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Freeform 5">
            <a:extLst>
              <a:ext uri="{FF2B5EF4-FFF2-40B4-BE49-F238E27FC236}">
                <a16:creationId xmlns:a16="http://schemas.microsoft.com/office/drawing/2014/main" id="{C89ED458-2326-40DC-9C7B-1A717B655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 METHODE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A935C03-B371-7044-C496-7383B056ABE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3" r="8811" b="-1"/>
          <a:stretch>
            <a:fillRect/>
          </a:stretch>
        </p:blipFill>
        <p:spPr>
          <a:xfrm>
            <a:off x="5194607" y="803751"/>
            <a:ext cx="6391533" cy="5250498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6F9D1DE6-E368-4F07-85F9-D5B767477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63B1F66-4ACE-4A01-8ADF-F175A9C35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F8448ED-9332-4A9B-8CAB-B1985E596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spcAft>
                <a:spcPts val="0"/>
              </a:spcAft>
              <a:buClr>
                <a:schemeClr val="accent1"/>
              </a:buClr>
              <a:buFont typeface="Wingdings 3" charset="2"/>
              <a:buChar char=""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Utilisation</a:t>
            </a:r>
            <a:r>
              <a:rPr lang="en-US" sz="1600" dirty="0">
                <a:solidFill>
                  <a:schemeClr val="tx1"/>
                </a:solidFill>
              </a:rPr>
              <a:t> de Python et de la bibliothèque pandas pour </a:t>
            </a:r>
            <a:r>
              <a:rPr lang="en-US" sz="1600" dirty="0" err="1">
                <a:solidFill>
                  <a:schemeClr val="tx1"/>
                </a:solidFill>
              </a:rPr>
              <a:t>l’analyse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exploratoire</a:t>
            </a:r>
            <a:r>
              <a:rPr lang="en-US" sz="1600" dirty="0">
                <a:solidFill>
                  <a:schemeClr val="tx1"/>
                </a:solidFill>
              </a:rPr>
              <a:t> et la manipulation des données.</a:t>
            </a:r>
          </a:p>
          <a:p>
            <a:pPr marL="0" indent="0">
              <a:lnSpc>
                <a:spcPct val="90000"/>
              </a:lnSpc>
              <a:spcAft>
                <a:spcPts val="0"/>
              </a:spcAft>
              <a:buClr>
                <a:schemeClr val="accent1"/>
              </a:buClr>
              <a:buFont typeface="Wingdings 3" charset="2"/>
              <a:buChar char="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spcAft>
                <a:spcPts val="0"/>
              </a:spcAft>
              <a:buClr>
                <a:schemeClr val="accent1"/>
              </a:buClr>
              <a:buFont typeface="Wingdings 3" charset="2"/>
              <a:buChar char=""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Nettoyage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préparation</a:t>
            </a:r>
            <a:r>
              <a:rPr lang="en-US" sz="1600" dirty="0">
                <a:solidFill>
                  <a:schemeClr val="tx1"/>
                </a:solidFill>
              </a:rPr>
              <a:t> et </a:t>
            </a:r>
            <a:r>
              <a:rPr lang="en-US" sz="1600" dirty="0" err="1">
                <a:solidFill>
                  <a:schemeClr val="tx1"/>
                </a:solidFill>
              </a:rPr>
              <a:t>analyse</a:t>
            </a:r>
            <a:r>
              <a:rPr lang="en-US" sz="1600" dirty="0">
                <a:solidFill>
                  <a:schemeClr val="tx1"/>
                </a:solidFill>
              </a:rPr>
              <a:t> des données à </a:t>
            </a:r>
            <a:r>
              <a:rPr lang="en-US" sz="1600" dirty="0" err="1">
                <a:solidFill>
                  <a:schemeClr val="tx1"/>
                </a:solidFill>
              </a:rPr>
              <a:t>l’aide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méthodes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statistiques</a:t>
            </a:r>
            <a:r>
              <a:rPr lang="en-US" sz="1600" dirty="0">
                <a:solidFill>
                  <a:schemeClr val="tx1"/>
                </a:solidFill>
              </a:rPr>
              <a:t> et de </a:t>
            </a:r>
            <a:r>
              <a:rPr lang="en-US" sz="1600" dirty="0" err="1">
                <a:solidFill>
                  <a:schemeClr val="tx1"/>
                </a:solidFill>
              </a:rPr>
              <a:t>visualisations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90000"/>
              </a:lnSpc>
              <a:spcAft>
                <a:spcPts val="0"/>
              </a:spcAft>
              <a:buClr>
                <a:schemeClr val="accent1"/>
              </a:buClr>
              <a:buFont typeface="Wingdings 3" charset="2"/>
              <a:buChar char="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spcAft>
                <a:spcPts val="0"/>
              </a:spcAft>
              <a:buClr>
                <a:schemeClr val="accent1"/>
              </a:buClr>
              <a:buFont typeface="Wingdings 3" charset="2"/>
              <a:buChar char=""/>
            </a:pPr>
            <a:r>
              <a:rPr lang="en-US" sz="1600" dirty="0">
                <a:solidFill>
                  <a:schemeClr val="tx1"/>
                </a:solidFill>
              </a:rPr>
              <a:t> Collaboration et </a:t>
            </a:r>
            <a:r>
              <a:rPr lang="en-US" sz="1600" dirty="0" err="1">
                <a:solidFill>
                  <a:schemeClr val="tx1"/>
                </a:solidFill>
              </a:rPr>
              <a:t>hébergement</a:t>
            </a:r>
            <a:r>
              <a:rPr lang="en-US" sz="1600" dirty="0">
                <a:solidFill>
                  <a:schemeClr val="tx1"/>
                </a:solidFill>
              </a:rPr>
              <a:t> du </a:t>
            </a:r>
            <a:r>
              <a:rPr lang="en-US" sz="1600" dirty="0" err="1">
                <a:solidFill>
                  <a:schemeClr val="tx1"/>
                </a:solidFill>
              </a:rPr>
              <a:t>projet</a:t>
            </a:r>
            <a:r>
              <a:rPr lang="en-US" sz="1600" dirty="0">
                <a:solidFill>
                  <a:schemeClr val="tx1"/>
                </a:solidFill>
              </a:rPr>
              <a:t> via GitHub.</a:t>
            </a:r>
          </a:p>
        </p:txBody>
      </p:sp>
      <p:sp>
        <p:nvSpPr>
          <p:cNvPr id="72" name="Freeform 5">
            <a:extLst>
              <a:ext uri="{FF2B5EF4-FFF2-40B4-BE49-F238E27FC236}">
                <a16:creationId xmlns:a16="http://schemas.microsoft.com/office/drawing/2014/main" id="{ED3A2261-1C75-40FF-8CD6-18C5900C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1408181"/>
            <a:ext cx="4572000" cy="62470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Distribution des scores par categories sur cinq</a:t>
            </a:r>
            <a:endParaRPr lang="en-US" sz="1800" b="1" i="0" kern="120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72E6B-0F9C-6CC2-CB01-0DC26D5C3F2F}"/>
              </a:ext>
            </a:extLst>
          </p:cNvPr>
          <p:cNvSpPr txBox="1"/>
          <p:nvPr/>
        </p:nvSpPr>
        <p:spPr>
          <a:xfrm>
            <a:off x="6197604" y="2609651"/>
            <a:ext cx="4437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Les </a:t>
            </a:r>
            <a:r>
              <a:rPr lang="es-ES" sz="2400" dirty="0" err="1"/>
              <a:t>produits</a:t>
            </a:r>
            <a:r>
              <a:rPr lang="es-ES" sz="2400" dirty="0"/>
              <a:t> </a:t>
            </a:r>
            <a:r>
              <a:rPr lang="es-ES" sz="2400" dirty="0" err="1"/>
              <a:t>re</a:t>
            </a:r>
            <a:r>
              <a:rPr lang="es-ES" sz="2400" dirty="0" err="1">
                <a:latin typeface="Aptos" panose="020B0004020202020204" pitchFamily="34" charset="0"/>
              </a:rPr>
              <a:t>çoivent</a:t>
            </a:r>
            <a:r>
              <a:rPr lang="es-ES" sz="2400" dirty="0">
                <a:latin typeface="Aptos" panose="020B0004020202020204" pitchFamily="34" charset="0"/>
              </a:rPr>
              <a:t> de </a:t>
            </a:r>
            <a:r>
              <a:rPr lang="es-ES" sz="2400" dirty="0" err="1">
                <a:latin typeface="Aptos" panose="020B0004020202020204" pitchFamily="34" charset="0"/>
              </a:rPr>
              <a:t>très</a:t>
            </a:r>
            <a:r>
              <a:rPr lang="es-ES" sz="2400" dirty="0">
                <a:latin typeface="Aptos" panose="020B0004020202020204" pitchFamily="34" charset="0"/>
              </a:rPr>
              <a:t> bon score </a:t>
            </a:r>
            <a:r>
              <a:rPr lang="es-ES" sz="2400" dirty="0" err="1">
                <a:latin typeface="Aptos" panose="020B0004020202020204" pitchFamily="34" charset="0"/>
              </a:rPr>
              <a:t>toutes</a:t>
            </a:r>
            <a:r>
              <a:rPr lang="es-ES" sz="2400" dirty="0">
                <a:latin typeface="Aptos" panose="020B0004020202020204" pitchFamily="34" charset="0"/>
              </a:rPr>
              <a:t> </a:t>
            </a:r>
            <a:r>
              <a:rPr lang="es-ES" sz="2400" dirty="0" err="1">
                <a:latin typeface="Aptos" panose="020B0004020202020204" pitchFamily="34" charset="0"/>
              </a:rPr>
              <a:t>catégories</a:t>
            </a:r>
            <a:r>
              <a:rPr lang="es-ES" sz="2400" dirty="0">
                <a:latin typeface="Aptos" panose="020B0004020202020204" pitchFamily="34" charset="0"/>
              </a:rPr>
              <a:t> </a:t>
            </a:r>
            <a:r>
              <a:rPr lang="es-ES" sz="2400" dirty="0" err="1">
                <a:latin typeface="Aptos" panose="020B0004020202020204" pitchFamily="34" charset="0"/>
              </a:rPr>
              <a:t>confondues</a:t>
            </a:r>
            <a:endParaRPr lang="en-US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62353CA-3C34-FA12-9B39-2F6461F1D20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2070607"/>
            <a:ext cx="4876799" cy="3598069"/>
          </a:xfrm>
        </p:spPr>
      </p:pic>
      <p:sp>
        <p:nvSpPr>
          <p:cNvPr id="14" name="Title 7">
            <a:extLst>
              <a:ext uri="{FF2B5EF4-FFF2-40B4-BE49-F238E27FC236}">
                <a16:creationId xmlns:a16="http://schemas.microsoft.com/office/drawing/2014/main" id="{FDE80F05-C05B-2BF4-814E-D48DDFC91AEB}"/>
              </a:ext>
            </a:extLst>
          </p:cNvPr>
          <p:cNvSpPr txBox="1">
            <a:spLocks/>
          </p:cNvSpPr>
          <p:nvPr/>
        </p:nvSpPr>
        <p:spPr bwMode="gray">
          <a:xfrm>
            <a:off x="203200" y="198120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RESULTAT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159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56981798-4550-46DA-9172-4846E2FB6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82EB7D3-3AD8-4ED1-9E1A-2906E1463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423335" y="404829"/>
            <a:ext cx="44788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484EC9-324F-F749-D8C3-3AE93373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10" y="1241266"/>
            <a:ext cx="4089633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>
                <a:solidFill>
                  <a:schemeClr val="tx2"/>
                </a:solidFill>
              </a:rPr>
              <a:t>RESULTAT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F22B74-D4DD-30BB-D2B2-A434CC473E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1110" y="4591665"/>
            <a:ext cx="4089633" cy="16223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cap="all" dirty="0">
                <a:solidFill>
                  <a:schemeClr val="accent1"/>
                </a:solidFill>
              </a:rPr>
              <a:t>Le </a:t>
            </a:r>
            <a:r>
              <a:rPr lang="en-US" cap="all" dirty="0" err="1">
                <a:solidFill>
                  <a:schemeClr val="accent1"/>
                </a:solidFill>
              </a:rPr>
              <a:t>taux</a:t>
            </a:r>
            <a:r>
              <a:rPr lang="en-US" cap="all" dirty="0">
                <a:solidFill>
                  <a:schemeClr val="accent1"/>
                </a:solidFill>
              </a:rPr>
              <a:t> de retour est très </a:t>
            </a:r>
            <a:r>
              <a:rPr lang="en-US" cap="all" dirty="0" err="1">
                <a:solidFill>
                  <a:schemeClr val="accent1"/>
                </a:solidFill>
              </a:rPr>
              <a:t>faible</a:t>
            </a:r>
            <a:r>
              <a:rPr lang="en-US" cap="all" dirty="0">
                <a:solidFill>
                  <a:schemeClr val="accent1"/>
                </a:solidFill>
              </a:rPr>
              <a:t> </a:t>
            </a:r>
            <a:r>
              <a:rPr lang="en-US" cap="all" dirty="0" err="1">
                <a:solidFill>
                  <a:schemeClr val="accent1"/>
                </a:solidFill>
              </a:rPr>
              <a:t>aussi</a:t>
            </a:r>
            <a:r>
              <a:rPr lang="en-US" cap="all" dirty="0">
                <a:solidFill>
                  <a:schemeClr val="accent1"/>
                </a:solidFill>
              </a:rPr>
              <a:t> pour </a:t>
            </a:r>
            <a:r>
              <a:rPr lang="en-US" cap="all" dirty="0" err="1">
                <a:solidFill>
                  <a:schemeClr val="accent1"/>
                </a:solidFill>
              </a:rPr>
              <a:t>tous</a:t>
            </a:r>
            <a:r>
              <a:rPr lang="en-US" cap="all" dirty="0">
                <a:solidFill>
                  <a:schemeClr val="accent1"/>
                </a:solidFill>
              </a:rPr>
              <a:t> les </a:t>
            </a:r>
            <a:r>
              <a:rPr lang="en-US" cap="all" dirty="0" err="1">
                <a:solidFill>
                  <a:schemeClr val="accent1"/>
                </a:solidFill>
              </a:rPr>
              <a:t>produits</a:t>
            </a:r>
            <a:endParaRPr lang="en-US" cap="all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A6126-18F3-4198-14D3-D7B4A015A0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0" r="1" b="1"/>
          <a:stretch>
            <a:fillRect/>
          </a:stretch>
        </p:blipFill>
        <p:spPr>
          <a:xfrm>
            <a:off x="5120117" y="461681"/>
            <a:ext cx="6585549" cy="5934638"/>
          </a:xfrm>
          <a:custGeom>
            <a:avLst/>
            <a:gdLst/>
            <a:ahLst/>
            <a:cxnLst/>
            <a:rect l="l" t="t" r="r" b="b"/>
            <a:pathLst>
              <a:path w="6585549" h="5934638">
                <a:moveTo>
                  <a:pt x="225406" y="0"/>
                </a:moveTo>
                <a:lnTo>
                  <a:pt x="6585549" y="0"/>
                </a:lnTo>
                <a:lnTo>
                  <a:pt x="6585549" y="5934638"/>
                </a:lnTo>
                <a:lnTo>
                  <a:pt x="226600" y="5934638"/>
                </a:lnTo>
                <a:lnTo>
                  <a:pt x="214529" y="5856373"/>
                </a:lnTo>
                <a:lnTo>
                  <a:pt x="203238" y="5780097"/>
                </a:lnTo>
                <a:lnTo>
                  <a:pt x="191320" y="5689292"/>
                </a:lnTo>
                <a:lnTo>
                  <a:pt x="177049" y="5581536"/>
                </a:lnTo>
                <a:lnTo>
                  <a:pt x="161995" y="5462279"/>
                </a:lnTo>
                <a:lnTo>
                  <a:pt x="146156" y="5327888"/>
                </a:lnTo>
                <a:lnTo>
                  <a:pt x="129376" y="5181389"/>
                </a:lnTo>
                <a:lnTo>
                  <a:pt x="112596" y="5022177"/>
                </a:lnTo>
                <a:lnTo>
                  <a:pt x="95503" y="4852675"/>
                </a:lnTo>
                <a:lnTo>
                  <a:pt x="79664" y="4669854"/>
                </a:lnTo>
                <a:lnTo>
                  <a:pt x="64453" y="4478558"/>
                </a:lnTo>
                <a:lnTo>
                  <a:pt x="50652" y="4276365"/>
                </a:lnTo>
                <a:lnTo>
                  <a:pt x="37480" y="4065697"/>
                </a:lnTo>
                <a:lnTo>
                  <a:pt x="25091" y="3845949"/>
                </a:lnTo>
                <a:lnTo>
                  <a:pt x="20700" y="3733351"/>
                </a:lnTo>
                <a:lnTo>
                  <a:pt x="15838" y="3618331"/>
                </a:lnTo>
                <a:lnTo>
                  <a:pt x="11291" y="3501495"/>
                </a:lnTo>
                <a:lnTo>
                  <a:pt x="8311" y="3384054"/>
                </a:lnTo>
                <a:lnTo>
                  <a:pt x="5645" y="3264191"/>
                </a:lnTo>
                <a:lnTo>
                  <a:pt x="2822" y="3143118"/>
                </a:lnTo>
                <a:lnTo>
                  <a:pt x="941" y="3019623"/>
                </a:lnTo>
                <a:lnTo>
                  <a:pt x="941" y="2894918"/>
                </a:lnTo>
                <a:lnTo>
                  <a:pt x="0" y="2769001"/>
                </a:lnTo>
                <a:lnTo>
                  <a:pt x="941" y="2641874"/>
                </a:lnTo>
                <a:lnTo>
                  <a:pt x="2822" y="2512931"/>
                </a:lnTo>
                <a:lnTo>
                  <a:pt x="4547" y="2383988"/>
                </a:lnTo>
                <a:lnTo>
                  <a:pt x="8311" y="2253229"/>
                </a:lnTo>
                <a:lnTo>
                  <a:pt x="12232" y="2121259"/>
                </a:lnTo>
                <a:lnTo>
                  <a:pt x="16779" y="1989289"/>
                </a:lnTo>
                <a:lnTo>
                  <a:pt x="23209" y="1856108"/>
                </a:lnTo>
                <a:lnTo>
                  <a:pt x="30893" y="1721716"/>
                </a:lnTo>
                <a:lnTo>
                  <a:pt x="38264" y="1586720"/>
                </a:lnTo>
                <a:lnTo>
                  <a:pt x="47673" y="1451723"/>
                </a:lnTo>
                <a:lnTo>
                  <a:pt x="58964" y="1314910"/>
                </a:lnTo>
                <a:lnTo>
                  <a:pt x="70255" y="1179913"/>
                </a:lnTo>
                <a:lnTo>
                  <a:pt x="83271" y="1042495"/>
                </a:lnTo>
                <a:lnTo>
                  <a:pt x="97542" y="904471"/>
                </a:lnTo>
                <a:lnTo>
                  <a:pt x="112596" y="768263"/>
                </a:lnTo>
                <a:lnTo>
                  <a:pt x="130160" y="630240"/>
                </a:lnTo>
                <a:lnTo>
                  <a:pt x="148978" y="492821"/>
                </a:lnTo>
                <a:lnTo>
                  <a:pt x="167640" y="354798"/>
                </a:lnTo>
                <a:lnTo>
                  <a:pt x="189438" y="217380"/>
                </a:lnTo>
                <a:lnTo>
                  <a:pt x="211706" y="80567"/>
                </a:lnTo>
                <a:close/>
              </a:path>
            </a:pathLst>
          </a:custGeom>
        </p:spPr>
      </p:pic>
      <p:sp>
        <p:nvSpPr>
          <p:cNvPr id="53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45327" y="190332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E22F8-7C0E-6F37-0D93-6B907394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FAEF28A3-012D-4640-B8B8-1EF6EAF72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B2F1C2-14D3-4A53-B329-323795BC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94E879E-1515-4211-8F1B-B68A92B2C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7137E7D-1F4E-498A-97D1-0E1FE6FC6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1375183-B6E5-43E0-B28F-39EC90838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67F36BD-A8AF-4304-A662-1007CC174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5D9095F-2809-4A90-A032-250AC21C3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Freeform 5">
              <a:extLst>
                <a:ext uri="{FF2B5EF4-FFF2-40B4-BE49-F238E27FC236}">
                  <a16:creationId xmlns:a16="http://schemas.microsoft.com/office/drawing/2014/main" id="{9027D7BF-C282-4477-A406-245C3F265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5">
              <a:extLst>
                <a:ext uri="{FF2B5EF4-FFF2-40B4-BE49-F238E27FC236}">
                  <a16:creationId xmlns:a16="http://schemas.microsoft.com/office/drawing/2014/main" id="{AC3C43D8-426E-472E-A8E8-C41BF7A876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5">
              <a:extLst>
                <a:ext uri="{FF2B5EF4-FFF2-40B4-BE49-F238E27FC236}">
                  <a16:creationId xmlns:a16="http://schemas.microsoft.com/office/drawing/2014/main" id="{52DCAE0E-B8DE-4C42-A48F-FA0C8345A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59647F54-801D-44AB-8284-EDDFF7763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56981798-4550-46DA-9172-4846E2FB6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82EB7D3-3AD8-4ED1-9E1A-2906E1463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423335" y="404829"/>
            <a:ext cx="44788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8EE6ACB-1B40-31DC-22B9-1B315F272EDB}"/>
              </a:ext>
            </a:extLst>
          </p:cNvPr>
          <p:cNvSpPr txBox="1">
            <a:spLocks/>
          </p:cNvSpPr>
          <p:nvPr/>
        </p:nvSpPr>
        <p:spPr bwMode="gray">
          <a:xfrm>
            <a:off x="561110" y="973668"/>
            <a:ext cx="4177867" cy="139169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3600">
                <a:solidFill>
                  <a:schemeClr val="tx2"/>
                </a:solidFill>
              </a:rPr>
              <a:t>RESULTAT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5934DB-F3B6-FDAA-576A-2710EF32EC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1110" y="2603500"/>
            <a:ext cx="4072673" cy="34163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0"/>
              </a:spcAft>
              <a:buClr>
                <a:schemeClr val="accent1"/>
              </a:buClr>
              <a:buFont typeface="Wingdings 3" charset="2"/>
              <a:buChar char=""/>
            </a:pPr>
            <a:r>
              <a:rPr lang="en-US" sz="2000" dirty="0"/>
              <a:t> </a:t>
            </a:r>
            <a:r>
              <a:rPr lang="en-US" sz="2000" dirty="0" err="1"/>
              <a:t>Ces</a:t>
            </a:r>
            <a:r>
              <a:rPr lang="en-US" sz="2000" dirty="0"/>
              <a:t> données nous </a:t>
            </a:r>
            <a:r>
              <a:rPr lang="en-US" sz="2000" dirty="0" err="1"/>
              <a:t>montrent</a:t>
            </a:r>
            <a:r>
              <a:rPr lang="en-US" sz="2000" dirty="0"/>
              <a:t> </a:t>
            </a:r>
            <a:r>
              <a:rPr lang="en-US" sz="2000" dirty="0" err="1"/>
              <a:t>qu’Edumart</a:t>
            </a:r>
            <a:r>
              <a:rPr lang="en-US" sz="2000" dirty="0"/>
              <a:t> a </a:t>
            </a:r>
            <a:r>
              <a:rPr lang="en-US" sz="2000" dirty="0" err="1"/>
              <a:t>une</a:t>
            </a:r>
            <a:r>
              <a:rPr lang="en-US" sz="2000" dirty="0"/>
              <a:t> politique </a:t>
            </a:r>
            <a:r>
              <a:rPr lang="en-US" sz="2000" dirty="0" err="1"/>
              <a:t>claire</a:t>
            </a:r>
            <a:r>
              <a:rPr lang="en-US" sz="2000" dirty="0"/>
              <a:t> de remise avec un </a:t>
            </a:r>
            <a:r>
              <a:rPr lang="en-US" sz="2000" dirty="0" err="1"/>
              <a:t>taux</a:t>
            </a:r>
            <a:r>
              <a:rPr lang="en-US" sz="2000" dirty="0"/>
              <a:t> de 11% </a:t>
            </a:r>
            <a:r>
              <a:rPr lang="en-US" sz="2000" dirty="0" err="1"/>
              <a:t>en</a:t>
            </a:r>
            <a:r>
              <a:rPr lang="en-US" sz="2000" dirty="0"/>
              <a:t> Moyenne.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7A4A37-491C-47D5-CCB5-EB6E63E2A2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6" r="8330" b="1"/>
          <a:stretch>
            <a:fillRect/>
          </a:stretch>
        </p:blipFill>
        <p:spPr>
          <a:xfrm>
            <a:off x="5120117" y="461681"/>
            <a:ext cx="6585549" cy="5934638"/>
          </a:xfrm>
          <a:custGeom>
            <a:avLst/>
            <a:gdLst/>
            <a:ahLst/>
            <a:cxnLst/>
            <a:rect l="l" t="t" r="r" b="b"/>
            <a:pathLst>
              <a:path w="6585549" h="5934638">
                <a:moveTo>
                  <a:pt x="225406" y="0"/>
                </a:moveTo>
                <a:lnTo>
                  <a:pt x="6585549" y="0"/>
                </a:lnTo>
                <a:lnTo>
                  <a:pt x="6585549" y="5934638"/>
                </a:lnTo>
                <a:lnTo>
                  <a:pt x="226600" y="5934638"/>
                </a:lnTo>
                <a:lnTo>
                  <a:pt x="214529" y="5856373"/>
                </a:lnTo>
                <a:lnTo>
                  <a:pt x="203238" y="5780097"/>
                </a:lnTo>
                <a:lnTo>
                  <a:pt x="191320" y="5689292"/>
                </a:lnTo>
                <a:lnTo>
                  <a:pt x="177049" y="5581536"/>
                </a:lnTo>
                <a:lnTo>
                  <a:pt x="161995" y="5462279"/>
                </a:lnTo>
                <a:lnTo>
                  <a:pt x="146156" y="5327888"/>
                </a:lnTo>
                <a:lnTo>
                  <a:pt x="129376" y="5181389"/>
                </a:lnTo>
                <a:lnTo>
                  <a:pt x="112596" y="5022177"/>
                </a:lnTo>
                <a:lnTo>
                  <a:pt x="95503" y="4852675"/>
                </a:lnTo>
                <a:lnTo>
                  <a:pt x="79664" y="4669854"/>
                </a:lnTo>
                <a:lnTo>
                  <a:pt x="64453" y="4478558"/>
                </a:lnTo>
                <a:lnTo>
                  <a:pt x="50652" y="4276365"/>
                </a:lnTo>
                <a:lnTo>
                  <a:pt x="37480" y="4065697"/>
                </a:lnTo>
                <a:lnTo>
                  <a:pt x="25091" y="3845949"/>
                </a:lnTo>
                <a:lnTo>
                  <a:pt x="20700" y="3733351"/>
                </a:lnTo>
                <a:lnTo>
                  <a:pt x="15838" y="3618331"/>
                </a:lnTo>
                <a:lnTo>
                  <a:pt x="11291" y="3501495"/>
                </a:lnTo>
                <a:lnTo>
                  <a:pt x="8311" y="3384054"/>
                </a:lnTo>
                <a:lnTo>
                  <a:pt x="5645" y="3264191"/>
                </a:lnTo>
                <a:lnTo>
                  <a:pt x="2822" y="3143118"/>
                </a:lnTo>
                <a:lnTo>
                  <a:pt x="941" y="3019623"/>
                </a:lnTo>
                <a:lnTo>
                  <a:pt x="941" y="2894918"/>
                </a:lnTo>
                <a:lnTo>
                  <a:pt x="0" y="2769001"/>
                </a:lnTo>
                <a:lnTo>
                  <a:pt x="941" y="2641874"/>
                </a:lnTo>
                <a:lnTo>
                  <a:pt x="2822" y="2512931"/>
                </a:lnTo>
                <a:lnTo>
                  <a:pt x="4547" y="2383988"/>
                </a:lnTo>
                <a:lnTo>
                  <a:pt x="8311" y="2253229"/>
                </a:lnTo>
                <a:lnTo>
                  <a:pt x="12232" y="2121259"/>
                </a:lnTo>
                <a:lnTo>
                  <a:pt x="16779" y="1989289"/>
                </a:lnTo>
                <a:lnTo>
                  <a:pt x="23209" y="1856108"/>
                </a:lnTo>
                <a:lnTo>
                  <a:pt x="30893" y="1721716"/>
                </a:lnTo>
                <a:lnTo>
                  <a:pt x="38264" y="1586720"/>
                </a:lnTo>
                <a:lnTo>
                  <a:pt x="47673" y="1451723"/>
                </a:lnTo>
                <a:lnTo>
                  <a:pt x="58964" y="1314910"/>
                </a:lnTo>
                <a:lnTo>
                  <a:pt x="70255" y="1179913"/>
                </a:lnTo>
                <a:lnTo>
                  <a:pt x="83271" y="1042495"/>
                </a:lnTo>
                <a:lnTo>
                  <a:pt x="97542" y="904471"/>
                </a:lnTo>
                <a:lnTo>
                  <a:pt x="112596" y="768263"/>
                </a:lnTo>
                <a:lnTo>
                  <a:pt x="130160" y="630240"/>
                </a:lnTo>
                <a:lnTo>
                  <a:pt x="148978" y="492821"/>
                </a:lnTo>
                <a:lnTo>
                  <a:pt x="167640" y="354798"/>
                </a:lnTo>
                <a:lnTo>
                  <a:pt x="189438" y="217380"/>
                </a:lnTo>
                <a:lnTo>
                  <a:pt x="211706" y="80567"/>
                </a:lnTo>
                <a:close/>
              </a:path>
            </a:pathLst>
          </a:custGeom>
        </p:spPr>
      </p:pic>
      <p:sp>
        <p:nvSpPr>
          <p:cNvPr id="90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45327" y="190332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8A0354-C598-FF99-2A46-7E6E08C64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366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5F986-CB7F-C682-0187-261954A7A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DDA34B8A-FA8D-4E16-AD72-7B60B1C2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885D229-60DD-4D71-8181-10E781C14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B0DAA45-BE66-4F0C-93A6-519D9410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F449A3D-A43B-4688-BD89-35734D00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74E9975C-AF3D-48EF-B3F0-112A01A3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F00A076-2FEA-40D1-8F85-842481797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2E68741-6133-4CAA-BF3C-F0E6CF40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Freeform 5">
              <a:extLst>
                <a:ext uri="{FF2B5EF4-FFF2-40B4-BE49-F238E27FC236}">
                  <a16:creationId xmlns:a16="http://schemas.microsoft.com/office/drawing/2014/main" id="{76C01C64-4A8B-42FC-93C5-2D6A3EBAB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5">
              <a:extLst>
                <a:ext uri="{FF2B5EF4-FFF2-40B4-BE49-F238E27FC236}">
                  <a16:creationId xmlns:a16="http://schemas.microsoft.com/office/drawing/2014/main" id="{D969AEA9-C1EE-45E1-9964-D9705492E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5">
              <a:extLst>
                <a:ext uri="{FF2B5EF4-FFF2-40B4-BE49-F238E27FC236}">
                  <a16:creationId xmlns:a16="http://schemas.microsoft.com/office/drawing/2014/main" id="{4845E67D-4E5B-44B3-AB74-5E95C839E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079CE317-680B-449C-A423-71C1FE06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9D7D44E3-D04D-6A02-80E5-DCCEAB219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RESULTAT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128B9FD-5CE7-4019-F2C6-CB3A42ECA2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54955" y="2603500"/>
            <a:ext cx="3481054" cy="3416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spcAft>
                <a:spcPts val="0"/>
              </a:spcAft>
              <a:buClr>
                <a:schemeClr val="accent1"/>
              </a:buClr>
              <a:buFont typeface="Wingdings 3" charset="2"/>
              <a:buChar char=""/>
            </a:pPr>
            <a:r>
              <a:rPr lang="en-US" sz="2000" dirty="0"/>
              <a:t> On </a:t>
            </a:r>
            <a:r>
              <a:rPr lang="en-US" sz="2000" dirty="0" err="1"/>
              <a:t>peut</a:t>
            </a:r>
            <a:r>
              <a:rPr lang="en-US" sz="2000" dirty="0"/>
              <a:t> </a:t>
            </a:r>
            <a:r>
              <a:rPr lang="en-US" sz="2000" dirty="0" err="1"/>
              <a:t>constater</a:t>
            </a:r>
            <a:r>
              <a:rPr lang="en-US" sz="2000" dirty="0"/>
              <a:t> </a:t>
            </a:r>
            <a:r>
              <a:rPr lang="en-US" sz="2000" dirty="0" err="1"/>
              <a:t>une</a:t>
            </a:r>
            <a:r>
              <a:rPr lang="en-US" sz="2000" dirty="0"/>
              <a:t> </a:t>
            </a:r>
            <a:r>
              <a:rPr lang="en-US" sz="2000" dirty="0" err="1"/>
              <a:t>évolution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dents de </a:t>
            </a:r>
            <a:r>
              <a:rPr lang="en-US" sz="2000" dirty="0" err="1"/>
              <a:t>scie</a:t>
            </a:r>
            <a:r>
              <a:rPr lang="en-US" sz="2000" dirty="0"/>
              <a:t> du chiffre </a:t>
            </a:r>
            <a:r>
              <a:rPr lang="en-US" sz="2000" dirty="0" err="1"/>
              <a:t>d’affaire</a:t>
            </a:r>
            <a:r>
              <a:rPr lang="en-US" sz="2000" dirty="0"/>
              <a:t> de </a:t>
            </a:r>
            <a:r>
              <a:rPr lang="en-US" sz="2000" dirty="0" err="1"/>
              <a:t>l’entreprise</a:t>
            </a:r>
            <a:r>
              <a:rPr lang="en-US" sz="2000" dirty="0"/>
              <a:t>, avec </a:t>
            </a:r>
            <a:r>
              <a:rPr lang="en-US" sz="2000" dirty="0" err="1"/>
              <a:t>une</a:t>
            </a:r>
            <a:r>
              <a:rPr lang="en-US" sz="2000" dirty="0"/>
              <a:t> chute dans les </a:t>
            </a:r>
            <a:r>
              <a:rPr lang="en-US" sz="2000" dirty="0" err="1"/>
              <a:t>derniers</a:t>
            </a:r>
            <a:r>
              <a:rPr lang="en-US" sz="2000" dirty="0"/>
              <a:t> </a:t>
            </a:r>
            <a:r>
              <a:rPr lang="en-US" sz="2000" dirty="0" err="1"/>
              <a:t>mois</a:t>
            </a:r>
            <a:r>
              <a:rPr lang="en-US" sz="2000" dirty="0"/>
              <a:t>. </a:t>
            </a:r>
          </a:p>
          <a:p>
            <a:pPr marL="0" indent="0" algn="just">
              <a:spcAft>
                <a:spcPts val="0"/>
              </a:spcAft>
              <a:buClr>
                <a:schemeClr val="accent1"/>
              </a:buClr>
              <a:buFont typeface="Wingdings 3" charset="2"/>
              <a:buChar char=""/>
            </a:pPr>
            <a:r>
              <a:rPr lang="en-US" sz="2000" dirty="0"/>
              <a:t> Une investigation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approfondie</a:t>
            </a:r>
            <a:r>
              <a:rPr lang="en-US" sz="2000" dirty="0"/>
              <a:t> doit </a:t>
            </a:r>
            <a:r>
              <a:rPr lang="en-US" sz="2000" dirty="0" err="1"/>
              <a:t>être</a:t>
            </a:r>
            <a:r>
              <a:rPr lang="en-US" sz="2000" dirty="0"/>
              <a:t> </a:t>
            </a:r>
            <a:r>
              <a:rPr lang="en-US" sz="2000" dirty="0" err="1"/>
              <a:t>realisée</a:t>
            </a:r>
            <a:r>
              <a:rPr lang="en-US" sz="2000" dirty="0"/>
              <a:t> pour </a:t>
            </a:r>
            <a:r>
              <a:rPr lang="en-US" sz="2000" dirty="0" err="1"/>
              <a:t>en</a:t>
            </a:r>
            <a:r>
              <a:rPr lang="en-US" sz="2000" dirty="0"/>
              <a:t> determiner la cause.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5E34B-EA67-2979-FB28-9ABD38E99A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458" y="2431550"/>
            <a:ext cx="6228431" cy="37870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9387B1E-DC7E-FE29-184C-64436B2B8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026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5D4A15D-C852-47D7-A7E3-7F8FEE9FC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6AA6A2-9E5B-46E6-82B0-8FC1CA723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1E7C01A-5F5B-4E17-B91B-26FA9ADB5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1DA43BF-6FE1-458D-A112-1687677B0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AA5FF03-83FF-43B9-B66B-5FD05A958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C4D7AA7-0424-4C72-AE55-4B413DD47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C2D80F1-5DC4-4396-B0E1-C774E82EC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48171057-920A-4188-A18E-97D710A35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871B74-1D69-47F0-A28D-8F3454779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63001BDC-368C-49CC-9F3F-EAF38A0A4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288FC2F-B192-42B2-90BE-517E1039B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EBDDC5-C6B5-40F8-F809-662114FAD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CD41805-3495-1B9B-240F-41FC1A949B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4535167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7508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8299" r="25866" b="4"/>
          <a:stretch>
            <a:fillRect/>
          </a:stretch>
        </p:blipFill>
        <p:spPr>
          <a:xfrm>
            <a:off x="423337" y="402166"/>
            <a:ext cx="4932951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5061" y="1241266"/>
            <a:ext cx="5428551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5400">
                <a:solidFill>
                  <a:schemeClr val="bg2"/>
                </a:solidFill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16B89A-CB5E-CF01-915E-6277F667DF28}"/>
              </a:ext>
            </a:extLst>
          </p:cNvPr>
          <p:cNvSpPr txBox="1"/>
          <p:nvPr/>
        </p:nvSpPr>
        <p:spPr>
          <a:xfrm>
            <a:off x="5695061" y="4591665"/>
            <a:ext cx="5428551" cy="1622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cap="all">
                <a:solidFill>
                  <a:schemeClr val="accent1">
                    <a:lumMod val="60000"/>
                    <a:lumOff val="40000"/>
                  </a:schemeClr>
                </a:solidFill>
                <a:hlinkClick r:id="rId4"/>
              </a:rPr>
              <a:t>Poincare008/Mini_Projet_Pandas</a:t>
            </a:r>
            <a:endParaRPr lang="en-US" cap="all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7967</TotalTime>
  <Words>360</Words>
  <Application>Microsoft Office PowerPoint</Application>
  <PresentationFormat>Widescreen</PresentationFormat>
  <Paragraphs>46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Century Gothic</vt:lpstr>
      <vt:lpstr>Wingdings</vt:lpstr>
      <vt:lpstr>Wingdings 3</vt:lpstr>
      <vt:lpstr>Ion Boardroom</vt:lpstr>
      <vt:lpstr>   Professeur : Dr. Evens Toussaint   Étudiant: Jameson PIERREVILLE                  Fabrice HERARD                  Steve Calixte </vt:lpstr>
      <vt:lpstr>Resumée</vt:lpstr>
      <vt:lpstr>Grand Point </vt:lpstr>
      <vt:lpstr>PowerPoint Presentation</vt:lpstr>
      <vt:lpstr> METHODE</vt:lpstr>
      <vt:lpstr>Distribution des scores par categories sur cinq</vt:lpstr>
      <vt:lpstr>RESULTAT</vt:lpstr>
      <vt:lpstr>PowerPoint Presentation</vt:lpstr>
      <vt:lpstr>RESULTAT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cp:lastModifiedBy>Steve Calixte</cp:lastModifiedBy>
  <cp:revision>47</cp:revision>
  <dcterms:created xsi:type="dcterms:W3CDTF">2024-02-14T18:56:44Z</dcterms:created>
  <dcterms:modified xsi:type="dcterms:W3CDTF">2026-01-11T03:58:36Z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